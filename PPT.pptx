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Heebo Heavy" charset="1" panose="00000A00000000000000"/>
      <p:regular r:id="rId20"/>
    </p:embeddedFont>
    <p:embeddedFont>
      <p:font typeface="Glacial Indifference" charset="1" panose="00000000000000000000"/>
      <p:regular r:id="rId21"/>
    </p:embeddedFont>
    <p:embeddedFont>
      <p:font typeface="Canva Sans" charset="1" panose="020B0503030501040103"/>
      <p:regular r:id="rId22"/>
    </p:embeddedFont>
    <p:embeddedFont>
      <p:font typeface="Heebo Ultra-Bold" charset="1" panose="00000900000000000000"/>
      <p:regular r:id="rId23"/>
    </p:embeddedFont>
    <p:embeddedFont>
      <p:font typeface="Heebo Bold" charset="1" panose="00000800000000000000"/>
      <p:regular r:id="rId24"/>
    </p:embeddedFont>
    <p:embeddedFont>
      <p:font typeface="Canva Sans Bold" charset="1" panose="020B0803030501040103"/>
      <p:regular r:id="rId25"/>
    </p:embeddedFont>
    <p:embeddedFont>
      <p:font typeface="Heebo" charset="1"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17.png" Type="http://schemas.openxmlformats.org/officeDocument/2006/relationships/image"/><Relationship Id="rId14" Target="../media/image18.png" Type="http://schemas.openxmlformats.org/officeDocument/2006/relationships/image"/><Relationship Id="rId15" Target="../media/image19.png" Type="http://schemas.openxmlformats.org/officeDocument/2006/relationships/image"/><Relationship Id="rId2" Target="../media/image4.png" Type="http://schemas.openxmlformats.org/officeDocument/2006/relationships/image"/><Relationship Id="rId3" Target="../media/image6.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jpe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jpeg" Type="http://schemas.openxmlformats.org/officeDocument/2006/relationships/image"/><Relationship Id="rId5" Target="../media/image33.png" Type="http://schemas.openxmlformats.org/officeDocument/2006/relationships/image"/><Relationship Id="rId6" Target="../media/image37.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41.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42.png" Type="http://schemas.openxmlformats.org/officeDocument/2006/relationships/image"/><Relationship Id="rId9"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png" Type="http://schemas.openxmlformats.org/officeDocument/2006/relationships/image"/><Relationship Id="rId13" Target="../media/image19.png" Type="http://schemas.openxmlformats.org/officeDocument/2006/relationships/image"/><Relationship Id="rId14" Target="../media/image42.png" Type="http://schemas.openxmlformats.org/officeDocument/2006/relationships/image"/><Relationship Id="rId2" Target="../media/image43.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2" Target="../media/image44.pn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47.jpeg" Type="http://schemas.openxmlformats.org/officeDocument/2006/relationships/image"/><Relationship Id="rId6" Target="../media/VAEtLCsnoJs.mp4" Type="http://schemas.openxmlformats.org/officeDocument/2006/relationships/video"/><Relationship Id="rId7" Target="../media/VAEtLCsnoJs.mp4" Type="http://schemas.microsoft.com/office/2007/relationships/media"/><Relationship Id="rId8" Target="../media/image8.png" Type="http://schemas.openxmlformats.org/officeDocument/2006/relationships/image"/><Relationship Id="rId9" Target="../media/image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583738" y="498111"/>
            <a:ext cx="9700485" cy="9959942"/>
          </a:xfrm>
          <a:custGeom>
            <a:avLst/>
            <a:gdLst/>
            <a:ahLst/>
            <a:cxnLst/>
            <a:rect r="r" b="b" t="t" l="l"/>
            <a:pathLst>
              <a:path h="9959942" w="9700485">
                <a:moveTo>
                  <a:pt x="0" y="0"/>
                </a:moveTo>
                <a:lnTo>
                  <a:pt x="9700485" y="0"/>
                </a:lnTo>
                <a:lnTo>
                  <a:pt x="9700485" y="9959942"/>
                </a:lnTo>
                <a:lnTo>
                  <a:pt x="0" y="9959942"/>
                </a:lnTo>
                <a:lnTo>
                  <a:pt x="0" y="0"/>
                </a:lnTo>
                <a:close/>
              </a:path>
            </a:pathLst>
          </a:custGeom>
          <a:blipFill>
            <a:blip r:embed="rId3">
              <a:alphaModFix amt="71000"/>
            </a:blip>
            <a:stretch>
              <a:fillRect l="0" t="0" r="0" b="0"/>
            </a:stretch>
          </a:blipFill>
        </p:spPr>
      </p:sp>
      <p:sp>
        <p:nvSpPr>
          <p:cNvPr name="TextBox 4" id="4"/>
          <p:cNvSpPr txBox="true"/>
          <p:nvPr/>
        </p:nvSpPr>
        <p:spPr>
          <a:xfrm rot="0">
            <a:off x="449703" y="3011950"/>
            <a:ext cx="12077905" cy="1848569"/>
          </a:xfrm>
          <a:prstGeom prst="rect">
            <a:avLst/>
          </a:prstGeom>
        </p:spPr>
        <p:txBody>
          <a:bodyPr anchor="t" rtlCol="false" tIns="0" lIns="0" bIns="0" rIns="0">
            <a:spAutoFit/>
          </a:bodyPr>
          <a:lstStyle/>
          <a:p>
            <a:pPr algn="l">
              <a:lnSpc>
                <a:spcPts val="7142"/>
              </a:lnSpc>
            </a:pPr>
            <a:r>
              <a:rPr lang="en-US" sz="7682" b="true">
                <a:solidFill>
                  <a:srgbClr val="F8F8F8"/>
                </a:solidFill>
                <a:latin typeface="Heebo Heavy"/>
                <a:ea typeface="Heebo Heavy"/>
                <a:cs typeface="Heebo Heavy"/>
                <a:sym typeface="Heebo Heavy"/>
              </a:rPr>
              <a:t>YOUTUBE TRENDING ANALYSIS DASHBOARD</a:t>
            </a:r>
          </a:p>
        </p:txBody>
      </p:sp>
      <p:sp>
        <p:nvSpPr>
          <p:cNvPr name="Freeform 5" id="5"/>
          <p:cNvSpPr/>
          <p:nvPr/>
        </p:nvSpPr>
        <p:spPr>
          <a:xfrm flipH="false" flipV="false" rot="0">
            <a:off x="449703" y="4985862"/>
            <a:ext cx="3414552" cy="315276"/>
          </a:xfrm>
          <a:custGeom>
            <a:avLst/>
            <a:gdLst/>
            <a:ahLst/>
            <a:cxnLst/>
            <a:rect r="r" b="b" t="t" l="l"/>
            <a:pathLst>
              <a:path h="315276" w="3414552">
                <a:moveTo>
                  <a:pt x="0" y="0"/>
                </a:moveTo>
                <a:lnTo>
                  <a:pt x="3414552" y="0"/>
                </a:lnTo>
                <a:lnTo>
                  <a:pt x="3414552" y="315276"/>
                </a:lnTo>
                <a:lnTo>
                  <a:pt x="0" y="315276"/>
                </a:lnTo>
                <a:lnTo>
                  <a:pt x="0" y="0"/>
                </a:lnTo>
                <a:close/>
              </a:path>
            </a:pathLst>
          </a:custGeom>
          <a:blipFill>
            <a:blip r:embed="rId4"/>
            <a:stretch>
              <a:fillRect l="0" t="-83079" r="0" b="-13731"/>
            </a:stretch>
          </a:blipFill>
        </p:spPr>
      </p:sp>
      <p:sp>
        <p:nvSpPr>
          <p:cNvPr name="TextBox 6" id="6"/>
          <p:cNvSpPr txBox="true"/>
          <p:nvPr/>
        </p:nvSpPr>
        <p:spPr>
          <a:xfrm rot="0">
            <a:off x="449703" y="7381132"/>
            <a:ext cx="7887830" cy="2905868"/>
          </a:xfrm>
          <a:prstGeom prst="rect">
            <a:avLst/>
          </a:prstGeom>
        </p:spPr>
        <p:txBody>
          <a:bodyPr anchor="t" rtlCol="false" tIns="0" lIns="0" bIns="0" rIns="0">
            <a:spAutoFit/>
          </a:bodyPr>
          <a:lstStyle/>
          <a:p>
            <a:pPr algn="l">
              <a:lnSpc>
                <a:spcPts val="4660"/>
              </a:lnSpc>
            </a:pPr>
            <a:r>
              <a:rPr lang="en-US" sz="3214" spc="160">
                <a:solidFill>
                  <a:srgbClr val="FFFFFF"/>
                </a:solidFill>
                <a:latin typeface="Glacial Indifference"/>
                <a:ea typeface="Glacial Indifference"/>
                <a:cs typeface="Glacial Indifference"/>
                <a:sym typeface="Glacial Indifference"/>
              </a:rPr>
              <a:t>ADIA ANI-B24CS1105</a:t>
            </a:r>
          </a:p>
          <a:p>
            <a:pPr algn="l">
              <a:lnSpc>
                <a:spcPts val="4660"/>
              </a:lnSpc>
            </a:pPr>
            <a:r>
              <a:rPr lang="en-US" sz="3214" spc="160">
                <a:solidFill>
                  <a:srgbClr val="FFFFFF"/>
                </a:solidFill>
                <a:latin typeface="Glacial Indifference"/>
                <a:ea typeface="Glacial Indifference"/>
                <a:cs typeface="Glacial Indifference"/>
                <a:sym typeface="Glacial Indifference"/>
              </a:rPr>
              <a:t>ANGEL ROSE PRINCE-B24CS1115</a:t>
            </a:r>
          </a:p>
          <a:p>
            <a:pPr algn="l">
              <a:lnSpc>
                <a:spcPts val="4660"/>
              </a:lnSpc>
            </a:pPr>
            <a:r>
              <a:rPr lang="en-US" sz="3214" spc="160">
                <a:solidFill>
                  <a:srgbClr val="FFFFFF"/>
                </a:solidFill>
                <a:latin typeface="Glacial Indifference"/>
                <a:ea typeface="Glacial Indifference"/>
                <a:cs typeface="Glacial Indifference"/>
                <a:sym typeface="Glacial Indifference"/>
              </a:rPr>
              <a:t>ANUGRAHA S.D.-B24CS1117</a:t>
            </a:r>
          </a:p>
          <a:p>
            <a:pPr algn="l">
              <a:lnSpc>
                <a:spcPts val="4660"/>
              </a:lnSpc>
            </a:pPr>
            <a:r>
              <a:rPr lang="en-US" sz="3214" spc="160">
                <a:solidFill>
                  <a:srgbClr val="FFFFFF"/>
                </a:solidFill>
                <a:latin typeface="Glacial Indifference"/>
                <a:ea typeface="Glacial Indifference"/>
                <a:cs typeface="Glacial Indifference"/>
                <a:sym typeface="Glacial Indifference"/>
              </a:rPr>
              <a:t>LIYA SHAJU-B24CS1142</a:t>
            </a:r>
          </a:p>
          <a:p>
            <a:pPr algn="l">
              <a:lnSpc>
                <a:spcPts val="466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9581512" cy="10287000"/>
          </a:xfrm>
          <a:custGeom>
            <a:avLst/>
            <a:gdLst/>
            <a:ahLst/>
            <a:cxnLst/>
            <a:rect r="r" b="b" t="t" l="l"/>
            <a:pathLst>
              <a:path h="10287000" w="9581512">
                <a:moveTo>
                  <a:pt x="0" y="0"/>
                </a:moveTo>
                <a:lnTo>
                  <a:pt x="9581512" y="0"/>
                </a:lnTo>
                <a:lnTo>
                  <a:pt x="9581512" y="10287000"/>
                </a:lnTo>
                <a:lnTo>
                  <a:pt x="0" y="10287000"/>
                </a:lnTo>
                <a:lnTo>
                  <a:pt x="0" y="0"/>
                </a:lnTo>
                <a:close/>
              </a:path>
            </a:pathLst>
          </a:custGeom>
          <a:blipFill>
            <a:blip r:embed="rId3"/>
            <a:stretch>
              <a:fillRect l="0" t="0" r="0" b="0"/>
            </a:stretch>
          </a:blipFill>
        </p:spPr>
      </p:sp>
      <p:sp>
        <p:nvSpPr>
          <p:cNvPr name="Freeform 4" id="4"/>
          <p:cNvSpPr/>
          <p:nvPr/>
        </p:nvSpPr>
        <p:spPr>
          <a:xfrm flipH="false" flipV="false" rot="0">
            <a:off x="426574" y="2579158"/>
            <a:ext cx="2406316" cy="218640"/>
          </a:xfrm>
          <a:custGeom>
            <a:avLst/>
            <a:gdLst/>
            <a:ahLst/>
            <a:cxnLst/>
            <a:rect r="r" b="b" t="t" l="l"/>
            <a:pathLst>
              <a:path h="218640" w="2406316">
                <a:moveTo>
                  <a:pt x="0" y="0"/>
                </a:moveTo>
                <a:lnTo>
                  <a:pt x="2406316" y="0"/>
                </a:lnTo>
                <a:lnTo>
                  <a:pt x="2406316" y="218640"/>
                </a:lnTo>
                <a:lnTo>
                  <a:pt x="0" y="218640"/>
                </a:lnTo>
                <a:lnTo>
                  <a:pt x="0" y="0"/>
                </a:lnTo>
                <a:close/>
              </a:path>
            </a:pathLst>
          </a:custGeom>
          <a:blipFill>
            <a:blip r:embed="rId4"/>
            <a:stretch>
              <a:fillRect l="0" t="0" r="0" b="0"/>
            </a:stretch>
          </a:blipFill>
        </p:spPr>
      </p:sp>
      <p:sp>
        <p:nvSpPr>
          <p:cNvPr name="Freeform 5" id="5"/>
          <p:cNvSpPr/>
          <p:nvPr/>
        </p:nvSpPr>
        <p:spPr>
          <a:xfrm flipH="false" flipV="false" rot="0">
            <a:off x="12619999" y="0"/>
            <a:ext cx="5844632" cy="10287000"/>
          </a:xfrm>
          <a:custGeom>
            <a:avLst/>
            <a:gdLst/>
            <a:ahLst/>
            <a:cxnLst/>
            <a:rect r="r" b="b" t="t" l="l"/>
            <a:pathLst>
              <a:path h="10287000" w="5844632">
                <a:moveTo>
                  <a:pt x="0" y="0"/>
                </a:moveTo>
                <a:lnTo>
                  <a:pt x="5844632" y="0"/>
                </a:lnTo>
                <a:lnTo>
                  <a:pt x="5844632" y="10287000"/>
                </a:lnTo>
                <a:lnTo>
                  <a:pt x="0" y="10287000"/>
                </a:lnTo>
                <a:lnTo>
                  <a:pt x="0" y="0"/>
                </a:lnTo>
                <a:close/>
              </a:path>
            </a:pathLst>
          </a:custGeom>
          <a:blipFill>
            <a:blip r:embed="rId5">
              <a:alphaModFix amt="83000"/>
            </a:blip>
            <a:stretch>
              <a:fillRect l="0" t="0" r="-17045" b="0"/>
            </a:stretch>
          </a:blipFill>
        </p:spPr>
      </p:sp>
      <p:sp>
        <p:nvSpPr>
          <p:cNvPr name="TextBox 6" id="6"/>
          <p:cNvSpPr txBox="true"/>
          <p:nvPr/>
        </p:nvSpPr>
        <p:spPr>
          <a:xfrm rot="0">
            <a:off x="546915" y="1236616"/>
            <a:ext cx="8597085" cy="1147306"/>
          </a:xfrm>
          <a:prstGeom prst="rect">
            <a:avLst/>
          </a:prstGeom>
        </p:spPr>
        <p:txBody>
          <a:bodyPr anchor="t" rtlCol="false" tIns="0" lIns="0" bIns="0" rIns="0">
            <a:spAutoFit/>
          </a:bodyPr>
          <a:lstStyle/>
          <a:p>
            <a:pPr algn="l">
              <a:lnSpc>
                <a:spcPts val="8566"/>
              </a:lnSpc>
            </a:pPr>
            <a:r>
              <a:rPr lang="en-US" sz="9015" b="true">
                <a:solidFill>
                  <a:srgbClr val="F8F8F8"/>
                </a:solidFill>
                <a:latin typeface="Heebo Heavy"/>
                <a:ea typeface="Heebo Heavy"/>
                <a:cs typeface="Heebo Heavy"/>
                <a:sym typeface="Heebo Heavy"/>
              </a:rPr>
              <a:t>INTRODUCTION</a:t>
            </a:r>
          </a:p>
        </p:txBody>
      </p:sp>
      <p:sp>
        <p:nvSpPr>
          <p:cNvPr name="TextBox 7" id="7"/>
          <p:cNvSpPr txBox="true"/>
          <p:nvPr/>
        </p:nvSpPr>
        <p:spPr>
          <a:xfrm rot="0">
            <a:off x="426574" y="3213940"/>
            <a:ext cx="12527805" cy="6500153"/>
          </a:xfrm>
          <a:prstGeom prst="rect">
            <a:avLst/>
          </a:prstGeom>
        </p:spPr>
        <p:txBody>
          <a:bodyPr anchor="t" rtlCol="false" tIns="0" lIns="0" bIns="0" rIns="0">
            <a:spAutoFit/>
          </a:bodyPr>
          <a:lstStyle/>
          <a:p>
            <a:pPr algn="l" marL="568980" indent="-284490" lvl="1">
              <a:lnSpc>
                <a:spcPts val="5270"/>
              </a:lnSpc>
              <a:buFont typeface="Arial"/>
              <a:buChar char="•"/>
            </a:pPr>
            <a:r>
              <a:rPr lang="en-US" sz="2635">
                <a:solidFill>
                  <a:srgbClr val="F8F8F8"/>
                </a:solidFill>
                <a:latin typeface="Canva Sans"/>
                <a:ea typeface="Canva Sans"/>
                <a:cs typeface="Canva Sans"/>
                <a:sym typeface="Canva Sans"/>
              </a:rPr>
              <a:t>YouTube is one of the most influential platforms for digital content.</a:t>
            </a:r>
          </a:p>
          <a:p>
            <a:pPr algn="l" marL="568980" indent="-284490" lvl="1">
              <a:lnSpc>
                <a:spcPts val="5270"/>
              </a:lnSpc>
              <a:buFont typeface="Arial"/>
              <a:buChar char="•"/>
            </a:pPr>
            <a:r>
              <a:rPr lang="en-US" sz="2635">
                <a:solidFill>
                  <a:srgbClr val="F8F8F8"/>
                </a:solidFill>
                <a:latin typeface="Canva Sans"/>
                <a:ea typeface="Canva Sans"/>
                <a:cs typeface="Canva Sans"/>
                <a:sym typeface="Canva Sans"/>
              </a:rPr>
              <a:t>Millions of videos are uploaded every day, but only some become trending.</a:t>
            </a:r>
          </a:p>
          <a:p>
            <a:pPr algn="l" marL="568980" indent="-284490" lvl="1">
              <a:lnSpc>
                <a:spcPts val="5270"/>
              </a:lnSpc>
              <a:buFont typeface="Arial"/>
              <a:buChar char="•"/>
            </a:pPr>
            <a:r>
              <a:rPr lang="en-US" sz="2635">
                <a:solidFill>
                  <a:srgbClr val="F8F8F8"/>
                </a:solidFill>
                <a:latin typeface="Canva Sans"/>
                <a:ea typeface="Canva Sans"/>
                <a:cs typeface="Canva Sans"/>
                <a:sym typeface="Canva Sans"/>
              </a:rPr>
              <a:t>Trending videos often show distinct patterns in views, likes, comments,</a:t>
            </a:r>
          </a:p>
          <a:p>
            <a:pPr algn="l">
              <a:lnSpc>
                <a:spcPts val="5270"/>
              </a:lnSpc>
            </a:pPr>
            <a:r>
              <a:rPr lang="en-US" sz="2635">
                <a:solidFill>
                  <a:srgbClr val="F8F8F8"/>
                </a:solidFill>
                <a:latin typeface="Canva Sans"/>
                <a:ea typeface="Canva Sans"/>
                <a:cs typeface="Canva Sans"/>
                <a:sym typeface="Canva Sans"/>
              </a:rPr>
              <a:t>       categories, and publishing time.</a:t>
            </a:r>
          </a:p>
          <a:p>
            <a:pPr algn="l" marL="568980" indent="-284490" lvl="1">
              <a:lnSpc>
                <a:spcPts val="5270"/>
              </a:lnSpc>
              <a:buFont typeface="Arial"/>
              <a:buChar char="•"/>
            </a:pPr>
            <a:r>
              <a:rPr lang="en-US" sz="2635">
                <a:solidFill>
                  <a:srgbClr val="F8F8F8"/>
                </a:solidFill>
                <a:latin typeface="Canva Sans"/>
                <a:ea typeface="Canva Sans"/>
                <a:cs typeface="Canva Sans"/>
                <a:sym typeface="Canva Sans"/>
              </a:rPr>
              <a:t>This project analyzes the YouTube Trending Videos Stats 2026 </a:t>
            </a:r>
          </a:p>
          <a:p>
            <a:pPr algn="l">
              <a:lnSpc>
                <a:spcPts val="5270"/>
              </a:lnSpc>
            </a:pPr>
            <a:r>
              <a:rPr lang="en-US" sz="2635">
                <a:solidFill>
                  <a:srgbClr val="F8F8F8"/>
                </a:solidFill>
                <a:latin typeface="Canva Sans"/>
                <a:ea typeface="Canva Sans"/>
                <a:cs typeface="Canva Sans"/>
                <a:sym typeface="Canva Sans"/>
              </a:rPr>
              <a:t>      </a:t>
            </a:r>
            <a:r>
              <a:rPr lang="en-US" sz="2635">
                <a:solidFill>
                  <a:srgbClr val="F8F8F8"/>
                </a:solidFill>
                <a:latin typeface="Canva Sans"/>
                <a:ea typeface="Canva Sans"/>
                <a:cs typeface="Canva Sans"/>
                <a:sym typeface="Canva Sans"/>
              </a:rPr>
              <a:t>dataset to identify the characteristics associated with trending videos.</a:t>
            </a:r>
          </a:p>
          <a:p>
            <a:pPr algn="l" marL="568980" indent="-284490" lvl="1">
              <a:lnSpc>
                <a:spcPts val="5270"/>
              </a:lnSpc>
              <a:buFont typeface="Arial"/>
              <a:buChar char="•"/>
            </a:pPr>
            <a:r>
              <a:rPr lang="en-US" sz="2635">
                <a:solidFill>
                  <a:srgbClr val="F8F8F8"/>
                </a:solidFill>
                <a:latin typeface="Canva Sans"/>
                <a:ea typeface="Canva Sans"/>
                <a:cs typeface="Canva Sans"/>
                <a:sym typeface="Canva Sans"/>
              </a:rPr>
              <a:t>The analysis aims to understand audience engagement and content </a:t>
            </a:r>
          </a:p>
          <a:p>
            <a:pPr algn="l">
              <a:lnSpc>
                <a:spcPts val="5270"/>
              </a:lnSpc>
            </a:pPr>
            <a:r>
              <a:rPr lang="en-US" sz="2635">
                <a:solidFill>
                  <a:srgbClr val="F8F8F8"/>
                </a:solidFill>
                <a:latin typeface="Canva Sans"/>
                <a:ea typeface="Canva Sans"/>
                <a:cs typeface="Canva Sans"/>
                <a:sym typeface="Canva Sans"/>
              </a:rPr>
              <a:t>       </a:t>
            </a:r>
            <a:r>
              <a:rPr lang="en-US" sz="2635">
                <a:solidFill>
                  <a:srgbClr val="F8F8F8"/>
                </a:solidFill>
                <a:latin typeface="Canva Sans"/>
                <a:ea typeface="Canva Sans"/>
                <a:cs typeface="Canva Sans"/>
                <a:sym typeface="Canva Sans"/>
              </a:rPr>
              <a:t>trends using data-driven techniques.</a:t>
            </a:r>
          </a:p>
          <a:p>
            <a:pPr algn="l">
              <a:lnSpc>
                <a:spcPts val="368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46915" y="2901731"/>
            <a:ext cx="4211980" cy="227056"/>
          </a:xfrm>
          <a:custGeom>
            <a:avLst/>
            <a:gdLst/>
            <a:ahLst/>
            <a:cxnLst/>
            <a:rect r="r" b="b" t="t" l="l"/>
            <a:pathLst>
              <a:path h="227056" w="4211980">
                <a:moveTo>
                  <a:pt x="0" y="0"/>
                </a:moveTo>
                <a:lnTo>
                  <a:pt x="4211980" y="0"/>
                </a:lnTo>
                <a:lnTo>
                  <a:pt x="4211980" y="227056"/>
                </a:lnTo>
                <a:lnTo>
                  <a:pt x="0" y="227056"/>
                </a:lnTo>
                <a:lnTo>
                  <a:pt x="0" y="0"/>
                </a:lnTo>
                <a:close/>
              </a:path>
            </a:pathLst>
          </a:custGeom>
          <a:blipFill>
            <a:blip r:embed="rId3"/>
            <a:stretch>
              <a:fillRect l="-23217" t="-6150" r="0" b="-101532"/>
            </a:stretch>
          </a:blipFill>
        </p:spPr>
      </p:sp>
      <p:sp>
        <p:nvSpPr>
          <p:cNvPr name="Freeform 4" id="4"/>
          <p:cNvSpPr/>
          <p:nvPr/>
        </p:nvSpPr>
        <p:spPr>
          <a:xfrm flipH="false" flipV="false" rot="0">
            <a:off x="462938" y="491833"/>
            <a:ext cx="2440306" cy="536867"/>
          </a:xfrm>
          <a:custGeom>
            <a:avLst/>
            <a:gdLst/>
            <a:ahLst/>
            <a:cxnLst/>
            <a:rect r="r" b="b" t="t" l="l"/>
            <a:pathLst>
              <a:path h="536867" w="2440306">
                <a:moveTo>
                  <a:pt x="0" y="0"/>
                </a:moveTo>
                <a:lnTo>
                  <a:pt x="2440306" y="0"/>
                </a:lnTo>
                <a:lnTo>
                  <a:pt x="2440306" y="536867"/>
                </a:lnTo>
                <a:lnTo>
                  <a:pt x="0" y="536867"/>
                </a:lnTo>
                <a:lnTo>
                  <a:pt x="0" y="0"/>
                </a:lnTo>
                <a:close/>
              </a:path>
            </a:pathLst>
          </a:custGeom>
          <a:blipFill>
            <a:blip r:embed="rId4">
              <a:alphaModFix amt="47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216906" y="272266"/>
            <a:ext cx="519311" cy="573825"/>
          </a:xfrm>
          <a:custGeom>
            <a:avLst/>
            <a:gdLst/>
            <a:ahLst/>
            <a:cxnLst/>
            <a:rect r="r" b="b" t="t" l="l"/>
            <a:pathLst>
              <a:path h="573825" w="519311">
                <a:moveTo>
                  <a:pt x="0" y="0"/>
                </a:moveTo>
                <a:lnTo>
                  <a:pt x="519311" y="0"/>
                </a:lnTo>
                <a:lnTo>
                  <a:pt x="519311" y="573825"/>
                </a:lnTo>
                <a:lnTo>
                  <a:pt x="0" y="5738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7259300" y="309223"/>
            <a:ext cx="508923" cy="508923"/>
          </a:xfrm>
          <a:custGeom>
            <a:avLst/>
            <a:gdLst/>
            <a:ahLst/>
            <a:cxnLst/>
            <a:rect r="r" b="b" t="t" l="l"/>
            <a:pathLst>
              <a:path h="508923" w="508923">
                <a:moveTo>
                  <a:pt x="0" y="0"/>
                </a:moveTo>
                <a:lnTo>
                  <a:pt x="508923" y="0"/>
                </a:lnTo>
                <a:lnTo>
                  <a:pt x="508923" y="508924"/>
                </a:lnTo>
                <a:lnTo>
                  <a:pt x="0" y="5089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5308339" y="9438700"/>
            <a:ext cx="1427878" cy="535454"/>
          </a:xfrm>
          <a:custGeom>
            <a:avLst/>
            <a:gdLst/>
            <a:ahLst/>
            <a:cxnLst/>
            <a:rect r="r" b="b" t="t" l="l"/>
            <a:pathLst>
              <a:path h="535454" w="1427878">
                <a:moveTo>
                  <a:pt x="0" y="0"/>
                </a:moveTo>
                <a:lnTo>
                  <a:pt x="1427878" y="0"/>
                </a:lnTo>
                <a:lnTo>
                  <a:pt x="1427878" y="535455"/>
                </a:lnTo>
                <a:lnTo>
                  <a:pt x="0" y="535455"/>
                </a:lnTo>
                <a:lnTo>
                  <a:pt x="0" y="0"/>
                </a:lnTo>
                <a:close/>
              </a:path>
            </a:pathLst>
          </a:custGeom>
          <a:blipFill>
            <a:blip r:embed="rId10"/>
            <a:stretch>
              <a:fillRect l="0" t="0" r="0" b="0"/>
            </a:stretch>
          </a:blipFill>
        </p:spPr>
      </p:sp>
      <p:sp>
        <p:nvSpPr>
          <p:cNvPr name="Freeform 8" id="8"/>
          <p:cNvSpPr/>
          <p:nvPr/>
        </p:nvSpPr>
        <p:spPr>
          <a:xfrm flipH="false" flipV="false" rot="0">
            <a:off x="2448960" y="9438700"/>
            <a:ext cx="464749" cy="464749"/>
          </a:xfrm>
          <a:custGeom>
            <a:avLst/>
            <a:gdLst/>
            <a:ahLst/>
            <a:cxnLst/>
            <a:rect r="r" b="b" t="t" l="l"/>
            <a:pathLst>
              <a:path h="464749" w="464749">
                <a:moveTo>
                  <a:pt x="0" y="0"/>
                </a:moveTo>
                <a:lnTo>
                  <a:pt x="464750" y="0"/>
                </a:lnTo>
                <a:lnTo>
                  <a:pt x="464750" y="464749"/>
                </a:lnTo>
                <a:lnTo>
                  <a:pt x="0" y="46474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5361635" y="9438700"/>
            <a:ext cx="462837" cy="462837"/>
          </a:xfrm>
          <a:custGeom>
            <a:avLst/>
            <a:gdLst/>
            <a:ahLst/>
            <a:cxnLst/>
            <a:rect r="r" b="b" t="t" l="l"/>
            <a:pathLst>
              <a:path h="462837" w="462837">
                <a:moveTo>
                  <a:pt x="0" y="0"/>
                </a:moveTo>
                <a:lnTo>
                  <a:pt x="462836" y="0"/>
                </a:lnTo>
                <a:lnTo>
                  <a:pt x="462836" y="462837"/>
                </a:lnTo>
                <a:lnTo>
                  <a:pt x="0" y="462837"/>
                </a:lnTo>
                <a:lnTo>
                  <a:pt x="0" y="0"/>
                </a:lnTo>
                <a:close/>
              </a:path>
            </a:pathLst>
          </a:custGeom>
          <a:blipFill>
            <a:blip r:embed="rId13"/>
            <a:stretch>
              <a:fillRect l="0" t="0" r="0" b="0"/>
            </a:stretch>
          </a:blipFill>
        </p:spPr>
      </p:sp>
      <p:sp>
        <p:nvSpPr>
          <p:cNvPr name="Freeform 10" id="10"/>
          <p:cNvSpPr/>
          <p:nvPr/>
        </p:nvSpPr>
        <p:spPr>
          <a:xfrm flipH="false" flipV="false" rot="0">
            <a:off x="11554962" y="9322473"/>
            <a:ext cx="651682" cy="651682"/>
          </a:xfrm>
          <a:custGeom>
            <a:avLst/>
            <a:gdLst/>
            <a:ahLst/>
            <a:cxnLst/>
            <a:rect r="r" b="b" t="t" l="l"/>
            <a:pathLst>
              <a:path h="651682" w="651682">
                <a:moveTo>
                  <a:pt x="0" y="0"/>
                </a:moveTo>
                <a:lnTo>
                  <a:pt x="651681" y="0"/>
                </a:lnTo>
                <a:lnTo>
                  <a:pt x="651681" y="651682"/>
                </a:lnTo>
                <a:lnTo>
                  <a:pt x="0" y="651682"/>
                </a:lnTo>
                <a:lnTo>
                  <a:pt x="0" y="0"/>
                </a:lnTo>
                <a:close/>
              </a:path>
            </a:pathLst>
          </a:custGeom>
          <a:blipFill>
            <a:blip r:embed="rId14"/>
            <a:stretch>
              <a:fillRect l="0" t="0" r="0" b="0"/>
            </a:stretch>
          </a:blipFill>
        </p:spPr>
      </p:sp>
      <p:sp>
        <p:nvSpPr>
          <p:cNvPr name="Freeform 11" id="11"/>
          <p:cNvSpPr/>
          <p:nvPr/>
        </p:nvSpPr>
        <p:spPr>
          <a:xfrm flipH="false" flipV="false" rot="0">
            <a:off x="8348596" y="9322473"/>
            <a:ext cx="758040" cy="758040"/>
          </a:xfrm>
          <a:custGeom>
            <a:avLst/>
            <a:gdLst/>
            <a:ahLst/>
            <a:cxnLst/>
            <a:rect r="r" b="b" t="t" l="l"/>
            <a:pathLst>
              <a:path h="758040" w="758040">
                <a:moveTo>
                  <a:pt x="0" y="0"/>
                </a:moveTo>
                <a:lnTo>
                  <a:pt x="758040" y="0"/>
                </a:lnTo>
                <a:lnTo>
                  <a:pt x="758040" y="758040"/>
                </a:lnTo>
                <a:lnTo>
                  <a:pt x="0" y="758040"/>
                </a:lnTo>
                <a:lnTo>
                  <a:pt x="0" y="0"/>
                </a:lnTo>
                <a:close/>
              </a:path>
            </a:pathLst>
          </a:custGeom>
          <a:blipFill>
            <a:blip r:embed="rId15">
              <a:alphaModFix amt="87000"/>
            </a:blip>
            <a:stretch>
              <a:fillRect l="0" t="0" r="0" b="0"/>
            </a:stretch>
          </a:blipFill>
        </p:spPr>
      </p:sp>
      <p:sp>
        <p:nvSpPr>
          <p:cNvPr name="TextBox 12" id="12"/>
          <p:cNvSpPr txBox="true"/>
          <p:nvPr/>
        </p:nvSpPr>
        <p:spPr>
          <a:xfrm rot="0">
            <a:off x="546915" y="1784737"/>
            <a:ext cx="12774178" cy="1116994"/>
          </a:xfrm>
          <a:prstGeom prst="rect">
            <a:avLst/>
          </a:prstGeom>
        </p:spPr>
        <p:txBody>
          <a:bodyPr anchor="t" rtlCol="false" tIns="0" lIns="0" bIns="0" rIns="0">
            <a:spAutoFit/>
          </a:bodyPr>
          <a:lstStyle/>
          <a:p>
            <a:pPr algn="l">
              <a:lnSpc>
                <a:spcPts val="8314"/>
              </a:lnSpc>
            </a:pPr>
            <a:r>
              <a:rPr lang="en-US" sz="8750" b="true">
                <a:solidFill>
                  <a:srgbClr val="F8F8F8"/>
                </a:solidFill>
                <a:latin typeface="Heebo Heavy"/>
                <a:ea typeface="Heebo Heavy"/>
                <a:cs typeface="Heebo Heavy"/>
                <a:sym typeface="Heebo Heavy"/>
              </a:rPr>
              <a:t>PROBLEM STATEMENT</a:t>
            </a:r>
          </a:p>
        </p:txBody>
      </p:sp>
      <p:sp>
        <p:nvSpPr>
          <p:cNvPr name="TextBox 13" id="13"/>
          <p:cNvSpPr txBox="true"/>
          <p:nvPr/>
        </p:nvSpPr>
        <p:spPr>
          <a:xfrm rot="0">
            <a:off x="546915" y="3597110"/>
            <a:ext cx="16189302" cy="3848938"/>
          </a:xfrm>
          <a:prstGeom prst="rect">
            <a:avLst/>
          </a:prstGeom>
        </p:spPr>
        <p:txBody>
          <a:bodyPr anchor="t" rtlCol="false" tIns="0" lIns="0" bIns="0" rIns="0">
            <a:spAutoFit/>
          </a:bodyPr>
          <a:lstStyle/>
          <a:p>
            <a:pPr algn="l">
              <a:lnSpc>
                <a:spcPts val="4423"/>
              </a:lnSpc>
            </a:pPr>
            <a:r>
              <a:rPr lang="en-US" sz="3159">
                <a:solidFill>
                  <a:srgbClr val="FFFFFF">
                    <a:alpha val="84706"/>
                  </a:srgbClr>
                </a:solidFill>
                <a:latin typeface="Canva Sans"/>
                <a:ea typeface="Canva Sans"/>
                <a:cs typeface="Canva Sans"/>
                <a:sym typeface="Canva Sans"/>
              </a:rPr>
              <a:t>To identify the patterns and characteristics associated with YouTube trending videos by analyzing factors such as views, likes, comments, categories, publishing time, and audience engagement, and to understand the key factors that contribute to a video becoming trending. </a:t>
            </a:r>
          </a:p>
          <a:p>
            <a:pPr algn="l">
              <a:lnSpc>
                <a:spcPts val="4423"/>
              </a:lnSpc>
            </a:pPr>
          </a:p>
          <a:p>
            <a:pPr algn="l">
              <a:lnSpc>
                <a:spcPts val="4423"/>
              </a:lnSpc>
            </a:pPr>
          </a:p>
          <a:p>
            <a:pPr algn="l">
              <a:lnSpc>
                <a:spcPts val="442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99133" y="708783"/>
            <a:ext cx="6618516" cy="1126809"/>
          </a:xfrm>
          <a:prstGeom prst="rect">
            <a:avLst/>
          </a:prstGeom>
        </p:spPr>
        <p:txBody>
          <a:bodyPr anchor="t" rtlCol="false" tIns="0" lIns="0" bIns="0" rIns="0">
            <a:spAutoFit/>
          </a:bodyPr>
          <a:lstStyle/>
          <a:p>
            <a:pPr algn="l">
              <a:lnSpc>
                <a:spcPts val="8577"/>
              </a:lnSpc>
            </a:pPr>
            <a:r>
              <a:rPr lang="en-US" b="true" sz="8577" spc="171">
                <a:solidFill>
                  <a:srgbClr val="F8F8F8"/>
                </a:solidFill>
                <a:latin typeface="Heebo Ultra-Bold"/>
                <a:ea typeface="Heebo Ultra-Bold"/>
                <a:cs typeface="Heebo Ultra-Bold"/>
                <a:sym typeface="Heebo Ultra-Bold"/>
              </a:rPr>
              <a:t>OBJECTIVES</a:t>
            </a:r>
          </a:p>
        </p:txBody>
      </p:sp>
      <p:sp>
        <p:nvSpPr>
          <p:cNvPr name="Freeform 4" id="4"/>
          <p:cNvSpPr/>
          <p:nvPr/>
        </p:nvSpPr>
        <p:spPr>
          <a:xfrm flipH="false" flipV="false" rot="0">
            <a:off x="496385" y="2070906"/>
            <a:ext cx="2187560" cy="218640"/>
          </a:xfrm>
          <a:custGeom>
            <a:avLst/>
            <a:gdLst/>
            <a:ahLst/>
            <a:cxnLst/>
            <a:rect r="r" b="b" t="t" l="l"/>
            <a:pathLst>
              <a:path h="218640" w="2187560">
                <a:moveTo>
                  <a:pt x="0" y="0"/>
                </a:moveTo>
                <a:lnTo>
                  <a:pt x="2187560" y="0"/>
                </a:lnTo>
                <a:lnTo>
                  <a:pt x="2187560" y="218639"/>
                </a:lnTo>
                <a:lnTo>
                  <a:pt x="0" y="218639"/>
                </a:lnTo>
                <a:lnTo>
                  <a:pt x="0" y="0"/>
                </a:lnTo>
                <a:close/>
              </a:path>
            </a:pathLst>
          </a:custGeom>
          <a:blipFill>
            <a:blip r:embed="rId3"/>
            <a:stretch>
              <a:fillRect l="0" t="0" r="0" b="0"/>
            </a:stretch>
          </a:blipFill>
        </p:spPr>
      </p:sp>
      <p:sp>
        <p:nvSpPr>
          <p:cNvPr name="TextBox 5" id="5"/>
          <p:cNvSpPr txBox="true"/>
          <p:nvPr/>
        </p:nvSpPr>
        <p:spPr>
          <a:xfrm rot="0">
            <a:off x="499133" y="2872100"/>
            <a:ext cx="1101516" cy="951825"/>
          </a:xfrm>
          <a:prstGeom prst="rect">
            <a:avLst/>
          </a:prstGeom>
        </p:spPr>
        <p:txBody>
          <a:bodyPr anchor="t" rtlCol="false" tIns="0" lIns="0" bIns="0" rIns="0">
            <a:spAutoFit/>
          </a:bodyPr>
          <a:lstStyle/>
          <a:p>
            <a:pPr algn="l">
              <a:lnSpc>
                <a:spcPts val="7261"/>
              </a:lnSpc>
            </a:pPr>
            <a:r>
              <a:rPr lang="en-US" b="true" sz="7261" spc="145">
                <a:solidFill>
                  <a:srgbClr val="F8082B"/>
                </a:solidFill>
                <a:latin typeface="Heebo Bold"/>
                <a:ea typeface="Heebo Bold"/>
                <a:cs typeface="Heebo Bold"/>
                <a:sym typeface="Heebo Bold"/>
              </a:rPr>
              <a:t>01</a:t>
            </a:r>
          </a:p>
        </p:txBody>
      </p:sp>
      <p:sp>
        <p:nvSpPr>
          <p:cNvPr name="Freeform 6" id="6"/>
          <p:cNvSpPr/>
          <p:nvPr/>
        </p:nvSpPr>
        <p:spPr>
          <a:xfrm flipH="false" flipV="false" rot="0">
            <a:off x="2124200" y="2589523"/>
            <a:ext cx="218756" cy="1300906"/>
          </a:xfrm>
          <a:custGeom>
            <a:avLst/>
            <a:gdLst/>
            <a:ahLst/>
            <a:cxnLst/>
            <a:rect r="r" b="b" t="t" l="l"/>
            <a:pathLst>
              <a:path h="1300906" w="218756">
                <a:moveTo>
                  <a:pt x="0" y="0"/>
                </a:moveTo>
                <a:lnTo>
                  <a:pt x="218756" y="0"/>
                </a:lnTo>
                <a:lnTo>
                  <a:pt x="218756" y="1300907"/>
                </a:lnTo>
                <a:lnTo>
                  <a:pt x="0" y="1300907"/>
                </a:lnTo>
                <a:lnTo>
                  <a:pt x="0" y="0"/>
                </a:lnTo>
                <a:close/>
              </a:path>
            </a:pathLst>
          </a:custGeom>
          <a:blipFill>
            <a:blip r:embed="rId4"/>
            <a:stretch>
              <a:fillRect l="0" t="0" r="0" b="0"/>
            </a:stretch>
          </a:blipFill>
        </p:spPr>
      </p:sp>
      <p:sp>
        <p:nvSpPr>
          <p:cNvPr name="TextBox 7" id="7"/>
          <p:cNvSpPr txBox="true"/>
          <p:nvPr/>
        </p:nvSpPr>
        <p:spPr>
          <a:xfrm rot="0">
            <a:off x="2731778" y="2742978"/>
            <a:ext cx="5544034" cy="818050"/>
          </a:xfrm>
          <a:prstGeom prst="rect">
            <a:avLst/>
          </a:prstGeom>
        </p:spPr>
        <p:txBody>
          <a:bodyPr anchor="t" rtlCol="false" tIns="0" lIns="0" bIns="0" rIns="0">
            <a:spAutoFit/>
          </a:bodyPr>
          <a:lstStyle/>
          <a:p>
            <a:pPr algn="l">
              <a:lnSpc>
                <a:spcPts val="3244"/>
              </a:lnSpc>
            </a:pPr>
            <a:r>
              <a:rPr lang="en-US" sz="2496">
                <a:solidFill>
                  <a:srgbClr val="FFFFFF">
                    <a:alpha val="84706"/>
                  </a:srgbClr>
                </a:solidFill>
                <a:latin typeface="Canva Sans"/>
                <a:ea typeface="Canva Sans"/>
                <a:cs typeface="Canva Sans"/>
                <a:sym typeface="Canva Sans"/>
              </a:rPr>
              <a:t>To clean and preprocess the YouTube trending video dataset.</a:t>
            </a:r>
          </a:p>
        </p:txBody>
      </p:sp>
      <p:sp>
        <p:nvSpPr>
          <p:cNvPr name="TextBox 8" id="8"/>
          <p:cNvSpPr txBox="true"/>
          <p:nvPr/>
        </p:nvSpPr>
        <p:spPr>
          <a:xfrm rot="0">
            <a:off x="496385" y="4292270"/>
            <a:ext cx="1376289" cy="1191876"/>
          </a:xfrm>
          <a:prstGeom prst="rect">
            <a:avLst/>
          </a:prstGeom>
        </p:spPr>
        <p:txBody>
          <a:bodyPr anchor="t" rtlCol="false" tIns="0" lIns="0" bIns="0" rIns="0">
            <a:spAutoFit/>
          </a:bodyPr>
          <a:lstStyle/>
          <a:p>
            <a:pPr algn="l">
              <a:lnSpc>
                <a:spcPts val="9078"/>
              </a:lnSpc>
            </a:pPr>
            <a:r>
              <a:rPr lang="en-US" b="true" sz="9078" spc="181">
                <a:solidFill>
                  <a:srgbClr val="F8082B"/>
                </a:solidFill>
                <a:latin typeface="Heebo Bold"/>
                <a:ea typeface="Heebo Bold"/>
                <a:cs typeface="Heebo Bold"/>
                <a:sym typeface="Heebo Bold"/>
              </a:rPr>
              <a:t>02</a:t>
            </a:r>
          </a:p>
        </p:txBody>
      </p:sp>
      <p:sp>
        <p:nvSpPr>
          <p:cNvPr name="Freeform 9" id="9"/>
          <p:cNvSpPr/>
          <p:nvPr/>
        </p:nvSpPr>
        <p:spPr>
          <a:xfrm flipH="false" flipV="false" rot="0">
            <a:off x="2124200" y="4087205"/>
            <a:ext cx="218756" cy="1300906"/>
          </a:xfrm>
          <a:custGeom>
            <a:avLst/>
            <a:gdLst/>
            <a:ahLst/>
            <a:cxnLst/>
            <a:rect r="r" b="b" t="t" l="l"/>
            <a:pathLst>
              <a:path h="1300906" w="218756">
                <a:moveTo>
                  <a:pt x="0" y="0"/>
                </a:moveTo>
                <a:lnTo>
                  <a:pt x="218756" y="0"/>
                </a:lnTo>
                <a:lnTo>
                  <a:pt x="218756" y="1300907"/>
                </a:lnTo>
                <a:lnTo>
                  <a:pt x="0" y="1300907"/>
                </a:lnTo>
                <a:lnTo>
                  <a:pt x="0" y="0"/>
                </a:lnTo>
                <a:close/>
              </a:path>
            </a:pathLst>
          </a:custGeom>
          <a:blipFill>
            <a:blip r:embed="rId5"/>
            <a:stretch>
              <a:fillRect l="0" t="0" r="0" b="0"/>
            </a:stretch>
          </a:blipFill>
        </p:spPr>
      </p:sp>
      <p:sp>
        <p:nvSpPr>
          <p:cNvPr name="TextBox 10" id="10"/>
          <p:cNvSpPr txBox="true"/>
          <p:nvPr/>
        </p:nvSpPr>
        <p:spPr>
          <a:xfrm rot="0">
            <a:off x="2744552" y="4264457"/>
            <a:ext cx="8099957" cy="1638606"/>
          </a:xfrm>
          <a:prstGeom prst="rect">
            <a:avLst/>
          </a:prstGeom>
        </p:spPr>
        <p:txBody>
          <a:bodyPr anchor="t" rtlCol="false" tIns="0" lIns="0" bIns="0" rIns="0">
            <a:spAutoFit/>
          </a:bodyPr>
          <a:lstStyle/>
          <a:p>
            <a:pPr algn="l">
              <a:lnSpc>
                <a:spcPts val="3310"/>
              </a:lnSpc>
            </a:pPr>
            <a:r>
              <a:rPr lang="en-US" sz="2548">
                <a:solidFill>
                  <a:srgbClr val="FFFFFF">
                    <a:alpha val="84706"/>
                  </a:srgbClr>
                </a:solidFill>
                <a:latin typeface="Canva Sans"/>
                <a:ea typeface="Canva Sans"/>
                <a:cs typeface="Canva Sans"/>
                <a:sym typeface="Canva Sans"/>
              </a:rPr>
              <a:t>To perform EDA and analyze views, likes, comments, categories, and publishing patterns.</a:t>
            </a:r>
          </a:p>
          <a:p>
            <a:pPr algn="l">
              <a:lnSpc>
                <a:spcPts val="3310"/>
              </a:lnSpc>
            </a:pPr>
          </a:p>
          <a:p>
            <a:pPr algn="l">
              <a:lnSpc>
                <a:spcPts val="3312"/>
              </a:lnSpc>
            </a:pPr>
          </a:p>
        </p:txBody>
      </p:sp>
      <p:sp>
        <p:nvSpPr>
          <p:cNvPr name="TextBox 11" id="11"/>
          <p:cNvSpPr txBox="true"/>
          <p:nvPr/>
        </p:nvSpPr>
        <p:spPr>
          <a:xfrm rot="0">
            <a:off x="496409" y="5843536"/>
            <a:ext cx="1373920" cy="1191876"/>
          </a:xfrm>
          <a:prstGeom prst="rect">
            <a:avLst/>
          </a:prstGeom>
        </p:spPr>
        <p:txBody>
          <a:bodyPr anchor="t" rtlCol="false" tIns="0" lIns="0" bIns="0" rIns="0">
            <a:spAutoFit/>
          </a:bodyPr>
          <a:lstStyle/>
          <a:p>
            <a:pPr algn="l">
              <a:lnSpc>
                <a:spcPts val="9078"/>
              </a:lnSpc>
            </a:pPr>
            <a:r>
              <a:rPr lang="en-US" b="true" sz="9078" spc="181">
                <a:solidFill>
                  <a:srgbClr val="F8082B"/>
                </a:solidFill>
                <a:latin typeface="Heebo Bold"/>
                <a:ea typeface="Heebo Bold"/>
                <a:cs typeface="Heebo Bold"/>
                <a:sym typeface="Heebo Bold"/>
              </a:rPr>
              <a:t>03</a:t>
            </a:r>
          </a:p>
        </p:txBody>
      </p:sp>
      <p:sp>
        <p:nvSpPr>
          <p:cNvPr name="Freeform 12" id="12"/>
          <p:cNvSpPr/>
          <p:nvPr/>
        </p:nvSpPr>
        <p:spPr>
          <a:xfrm flipH="false" flipV="false" rot="0">
            <a:off x="2124200" y="5595820"/>
            <a:ext cx="218756" cy="1289974"/>
          </a:xfrm>
          <a:custGeom>
            <a:avLst/>
            <a:gdLst/>
            <a:ahLst/>
            <a:cxnLst/>
            <a:rect r="r" b="b" t="t" l="l"/>
            <a:pathLst>
              <a:path h="1289974" w="218756">
                <a:moveTo>
                  <a:pt x="0" y="0"/>
                </a:moveTo>
                <a:lnTo>
                  <a:pt x="218756" y="0"/>
                </a:lnTo>
                <a:lnTo>
                  <a:pt x="218756" y="1289974"/>
                </a:lnTo>
                <a:lnTo>
                  <a:pt x="0" y="1289974"/>
                </a:lnTo>
                <a:lnTo>
                  <a:pt x="0" y="0"/>
                </a:lnTo>
                <a:close/>
              </a:path>
            </a:pathLst>
          </a:custGeom>
          <a:blipFill>
            <a:blip r:embed="rId6"/>
            <a:stretch>
              <a:fillRect l="0" t="0" r="0" b="0"/>
            </a:stretch>
          </a:blipFill>
        </p:spPr>
      </p:sp>
      <p:sp>
        <p:nvSpPr>
          <p:cNvPr name="TextBox 13" id="13"/>
          <p:cNvSpPr txBox="true"/>
          <p:nvPr/>
        </p:nvSpPr>
        <p:spPr>
          <a:xfrm rot="0">
            <a:off x="2727800" y="5800328"/>
            <a:ext cx="7067954" cy="1228724"/>
          </a:xfrm>
          <a:prstGeom prst="rect">
            <a:avLst/>
          </a:prstGeom>
        </p:spPr>
        <p:txBody>
          <a:bodyPr anchor="t" rtlCol="false" tIns="0" lIns="0" bIns="0" rIns="0">
            <a:spAutoFit/>
          </a:bodyPr>
          <a:lstStyle/>
          <a:p>
            <a:pPr algn="l">
              <a:lnSpc>
                <a:spcPts val="3242"/>
              </a:lnSpc>
            </a:pPr>
            <a:r>
              <a:rPr lang="en-US" sz="2496">
                <a:solidFill>
                  <a:srgbClr val="FFFFFF">
                    <a:alpha val="84706"/>
                  </a:srgbClr>
                </a:solidFill>
                <a:latin typeface="Canva Sans"/>
                <a:ea typeface="Canva Sans"/>
                <a:cs typeface="Canva Sans"/>
                <a:sym typeface="Canva Sans"/>
              </a:rPr>
              <a:t>To derive useful features such as engagement rate, like rate, comment rate, and video age.</a:t>
            </a:r>
          </a:p>
          <a:p>
            <a:pPr algn="l">
              <a:lnSpc>
                <a:spcPts val="3244"/>
              </a:lnSpc>
            </a:pPr>
          </a:p>
        </p:txBody>
      </p:sp>
      <p:sp>
        <p:nvSpPr>
          <p:cNvPr name="TextBox 14" id="14"/>
          <p:cNvSpPr txBox="true"/>
          <p:nvPr/>
        </p:nvSpPr>
        <p:spPr>
          <a:xfrm rot="0">
            <a:off x="496598" y="7371207"/>
            <a:ext cx="1354970" cy="1189897"/>
          </a:xfrm>
          <a:prstGeom prst="rect">
            <a:avLst/>
          </a:prstGeom>
        </p:spPr>
        <p:txBody>
          <a:bodyPr anchor="t" rtlCol="false" tIns="0" lIns="0" bIns="0" rIns="0">
            <a:spAutoFit/>
          </a:bodyPr>
          <a:lstStyle/>
          <a:p>
            <a:pPr algn="l">
              <a:lnSpc>
                <a:spcPts val="8952"/>
              </a:lnSpc>
            </a:pPr>
            <a:r>
              <a:rPr lang="en-US" b="true" sz="8952" spc="179">
                <a:solidFill>
                  <a:srgbClr val="F8082B"/>
                </a:solidFill>
                <a:latin typeface="Heebo Bold"/>
                <a:ea typeface="Heebo Bold"/>
                <a:cs typeface="Heebo Bold"/>
                <a:sym typeface="Heebo Bold"/>
              </a:rPr>
              <a:t>04</a:t>
            </a:r>
          </a:p>
        </p:txBody>
      </p:sp>
      <p:sp>
        <p:nvSpPr>
          <p:cNvPr name="Freeform 15" id="15"/>
          <p:cNvSpPr/>
          <p:nvPr/>
        </p:nvSpPr>
        <p:spPr>
          <a:xfrm flipH="false" flipV="false" rot="0">
            <a:off x="2124200" y="7301210"/>
            <a:ext cx="218756" cy="1082267"/>
          </a:xfrm>
          <a:custGeom>
            <a:avLst/>
            <a:gdLst/>
            <a:ahLst/>
            <a:cxnLst/>
            <a:rect r="r" b="b" t="t" l="l"/>
            <a:pathLst>
              <a:path h="1082267" w="218756">
                <a:moveTo>
                  <a:pt x="0" y="0"/>
                </a:moveTo>
                <a:lnTo>
                  <a:pt x="218756" y="0"/>
                </a:lnTo>
                <a:lnTo>
                  <a:pt x="218756" y="1082266"/>
                </a:lnTo>
                <a:lnTo>
                  <a:pt x="0" y="1082266"/>
                </a:lnTo>
                <a:lnTo>
                  <a:pt x="0" y="0"/>
                </a:lnTo>
                <a:close/>
              </a:path>
            </a:pathLst>
          </a:custGeom>
          <a:blipFill>
            <a:blip r:embed="rId7"/>
            <a:stretch>
              <a:fillRect l="0" t="0" r="0" b="0"/>
            </a:stretch>
          </a:blipFill>
        </p:spPr>
      </p:sp>
      <p:sp>
        <p:nvSpPr>
          <p:cNvPr name="TextBox 16" id="16"/>
          <p:cNvSpPr txBox="true"/>
          <p:nvPr/>
        </p:nvSpPr>
        <p:spPr>
          <a:xfrm rot="0">
            <a:off x="2729938" y="7321473"/>
            <a:ext cx="8114570" cy="818050"/>
          </a:xfrm>
          <a:prstGeom prst="rect">
            <a:avLst/>
          </a:prstGeom>
        </p:spPr>
        <p:txBody>
          <a:bodyPr anchor="t" rtlCol="false" tIns="0" lIns="0" bIns="0" rIns="0">
            <a:spAutoFit/>
          </a:bodyPr>
          <a:lstStyle/>
          <a:p>
            <a:pPr algn="l">
              <a:lnSpc>
                <a:spcPts val="3244"/>
              </a:lnSpc>
            </a:pPr>
            <a:r>
              <a:rPr lang="en-US" sz="2496">
                <a:solidFill>
                  <a:srgbClr val="FFFFFF">
                    <a:alpha val="84706"/>
                  </a:srgbClr>
                </a:solidFill>
                <a:latin typeface="Canva Sans"/>
                <a:ea typeface="Canva Sans"/>
                <a:cs typeface="Canva Sans"/>
                <a:sym typeface="Canva Sans"/>
              </a:rPr>
              <a:t>To identify key insights and present the findings using visualizations and an interactive dashboard. </a:t>
            </a:r>
          </a:p>
        </p:txBody>
      </p:sp>
      <p:sp>
        <p:nvSpPr>
          <p:cNvPr name="Freeform 17" id="17"/>
          <p:cNvSpPr/>
          <p:nvPr/>
        </p:nvSpPr>
        <p:spPr>
          <a:xfrm flipH="false" flipV="false" rot="0">
            <a:off x="7831464" y="1071335"/>
            <a:ext cx="10456536" cy="9007957"/>
          </a:xfrm>
          <a:custGeom>
            <a:avLst/>
            <a:gdLst/>
            <a:ahLst/>
            <a:cxnLst/>
            <a:rect r="r" b="b" t="t" l="l"/>
            <a:pathLst>
              <a:path h="9007957" w="10456536">
                <a:moveTo>
                  <a:pt x="0" y="0"/>
                </a:moveTo>
                <a:lnTo>
                  <a:pt x="10456536" y="0"/>
                </a:lnTo>
                <a:lnTo>
                  <a:pt x="10456536" y="9007957"/>
                </a:lnTo>
                <a:lnTo>
                  <a:pt x="0" y="9007957"/>
                </a:lnTo>
                <a:lnTo>
                  <a:pt x="0" y="0"/>
                </a:lnTo>
                <a:close/>
              </a:path>
            </a:pathLst>
          </a:custGeom>
          <a:blipFill>
            <a:blip r:embed="rId8"/>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586015"/>
            <a:ext cx="18288000" cy="9114969"/>
          </a:xfrm>
          <a:custGeom>
            <a:avLst/>
            <a:gdLst/>
            <a:ahLst/>
            <a:cxnLst/>
            <a:rect r="r" b="b" t="t" l="l"/>
            <a:pathLst>
              <a:path h="9114969" w="18288000">
                <a:moveTo>
                  <a:pt x="0" y="0"/>
                </a:moveTo>
                <a:lnTo>
                  <a:pt x="18288000" y="0"/>
                </a:lnTo>
                <a:lnTo>
                  <a:pt x="18288000" y="9114970"/>
                </a:lnTo>
                <a:lnTo>
                  <a:pt x="0" y="9114970"/>
                </a:lnTo>
                <a:lnTo>
                  <a:pt x="0" y="0"/>
                </a:lnTo>
                <a:close/>
              </a:path>
            </a:pathLst>
          </a:custGeom>
          <a:blipFill>
            <a:blip r:embed="rId3">
              <a:alphaModFix amt="99000"/>
            </a:blip>
            <a:stretch>
              <a:fillRect l="-402" t="0" r="-402" b="-1126"/>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871691" y="0"/>
            <a:ext cx="16387609" cy="10423349"/>
          </a:xfrm>
          <a:custGeom>
            <a:avLst/>
            <a:gdLst/>
            <a:ahLst/>
            <a:cxnLst/>
            <a:rect r="r" b="b" t="t" l="l"/>
            <a:pathLst>
              <a:path h="10423349" w="16387609">
                <a:moveTo>
                  <a:pt x="0" y="0"/>
                </a:moveTo>
                <a:lnTo>
                  <a:pt x="16387609" y="0"/>
                </a:lnTo>
                <a:lnTo>
                  <a:pt x="16387609" y="10423349"/>
                </a:lnTo>
                <a:lnTo>
                  <a:pt x="0" y="10423349"/>
                </a:lnTo>
                <a:lnTo>
                  <a:pt x="0" y="0"/>
                </a:lnTo>
                <a:close/>
              </a:path>
            </a:pathLst>
          </a:custGeom>
          <a:blipFill>
            <a:blip r:embed="rId3"/>
            <a:stretch>
              <a:fillRect l="0" t="-2406" r="0" b="-2406"/>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09025" y="240493"/>
            <a:ext cx="20458280" cy="10287000"/>
          </a:xfrm>
          <a:custGeom>
            <a:avLst/>
            <a:gdLst/>
            <a:ahLst/>
            <a:cxnLst/>
            <a:rect r="r" b="b" t="t" l="l"/>
            <a:pathLst>
              <a:path h="10287000" w="20458280">
                <a:moveTo>
                  <a:pt x="0" y="0"/>
                </a:moveTo>
                <a:lnTo>
                  <a:pt x="20458279" y="0"/>
                </a:lnTo>
                <a:lnTo>
                  <a:pt x="20458279" y="10287000"/>
                </a:lnTo>
                <a:lnTo>
                  <a:pt x="0" y="10287000"/>
                </a:lnTo>
                <a:lnTo>
                  <a:pt x="0" y="0"/>
                </a:lnTo>
                <a:close/>
              </a:path>
            </a:pathLst>
          </a:custGeom>
          <a:blipFill>
            <a:blip r:embed="rId3"/>
            <a:stretch>
              <a:fillRect l="0" t="-52097" r="0" b="-52097"/>
            </a:stretch>
          </a:blipFill>
        </p:spPr>
      </p:sp>
      <p:sp>
        <p:nvSpPr>
          <p:cNvPr name="Freeform 4" id="4"/>
          <p:cNvSpPr/>
          <p:nvPr/>
        </p:nvSpPr>
        <p:spPr>
          <a:xfrm flipH="false" flipV="false" rot="0">
            <a:off x="-229810" y="-386590"/>
            <a:ext cx="19765908" cy="10673590"/>
          </a:xfrm>
          <a:custGeom>
            <a:avLst/>
            <a:gdLst/>
            <a:ahLst/>
            <a:cxnLst/>
            <a:rect r="r" b="b" t="t" l="l"/>
            <a:pathLst>
              <a:path h="10673590" w="19765908">
                <a:moveTo>
                  <a:pt x="0" y="0"/>
                </a:moveTo>
                <a:lnTo>
                  <a:pt x="19765909" y="0"/>
                </a:lnTo>
                <a:lnTo>
                  <a:pt x="19765909" y="10673590"/>
                </a:lnTo>
                <a:lnTo>
                  <a:pt x="0" y="10673590"/>
                </a:lnTo>
                <a:lnTo>
                  <a:pt x="0" y="0"/>
                </a:lnTo>
                <a:close/>
              </a:path>
            </a:pathLst>
          </a:custGeom>
          <a:blipFill>
            <a:blip r:embed="rId4"/>
            <a:stretch>
              <a:fillRect l="0" t="0" r="0" b="0"/>
            </a:stretch>
          </a:blipFill>
        </p:spPr>
      </p:sp>
      <p:sp>
        <p:nvSpPr>
          <p:cNvPr name="TextBox 5" id="5"/>
          <p:cNvSpPr txBox="true"/>
          <p:nvPr/>
        </p:nvSpPr>
        <p:spPr>
          <a:xfrm rot="0">
            <a:off x="616904" y="813013"/>
            <a:ext cx="5282234" cy="1125358"/>
          </a:xfrm>
          <a:prstGeom prst="rect">
            <a:avLst/>
          </a:prstGeom>
        </p:spPr>
        <p:txBody>
          <a:bodyPr anchor="t" rtlCol="false" tIns="0" lIns="0" bIns="0" rIns="0">
            <a:spAutoFit/>
          </a:bodyPr>
          <a:lstStyle/>
          <a:p>
            <a:pPr algn="l">
              <a:lnSpc>
                <a:spcPts val="8519"/>
              </a:lnSpc>
            </a:pPr>
            <a:r>
              <a:rPr lang="en-US" b="true" sz="8519" spc="170">
                <a:solidFill>
                  <a:srgbClr val="F8F8F8"/>
                </a:solidFill>
                <a:latin typeface="Heebo Heavy"/>
                <a:ea typeface="Heebo Heavy"/>
                <a:cs typeface="Heebo Heavy"/>
                <a:sym typeface="Heebo Heavy"/>
              </a:rPr>
              <a:t>MODULES</a:t>
            </a:r>
          </a:p>
        </p:txBody>
      </p:sp>
      <p:sp>
        <p:nvSpPr>
          <p:cNvPr name="Freeform 6" id="6"/>
          <p:cNvSpPr/>
          <p:nvPr/>
        </p:nvSpPr>
        <p:spPr>
          <a:xfrm flipH="false" flipV="false" rot="0">
            <a:off x="645330" y="2142670"/>
            <a:ext cx="2187560" cy="218640"/>
          </a:xfrm>
          <a:custGeom>
            <a:avLst/>
            <a:gdLst/>
            <a:ahLst/>
            <a:cxnLst/>
            <a:rect r="r" b="b" t="t" l="l"/>
            <a:pathLst>
              <a:path h="218640" w="2187560">
                <a:moveTo>
                  <a:pt x="0" y="0"/>
                </a:moveTo>
                <a:lnTo>
                  <a:pt x="2187560" y="0"/>
                </a:lnTo>
                <a:lnTo>
                  <a:pt x="2187560" y="218639"/>
                </a:lnTo>
                <a:lnTo>
                  <a:pt x="0" y="218639"/>
                </a:lnTo>
                <a:lnTo>
                  <a:pt x="0" y="0"/>
                </a:lnTo>
                <a:close/>
              </a:path>
            </a:pathLst>
          </a:custGeom>
          <a:blipFill>
            <a:blip r:embed="rId5"/>
            <a:stretch>
              <a:fillRect l="0" t="0" r="0" b="0"/>
            </a:stretch>
          </a:blipFill>
        </p:spPr>
      </p:sp>
      <p:sp>
        <p:nvSpPr>
          <p:cNvPr name="Freeform 7" id="7"/>
          <p:cNvSpPr/>
          <p:nvPr/>
        </p:nvSpPr>
        <p:spPr>
          <a:xfrm flipH="false" flipV="false" rot="0">
            <a:off x="373384" y="2951889"/>
            <a:ext cx="1104718" cy="1082267"/>
          </a:xfrm>
          <a:custGeom>
            <a:avLst/>
            <a:gdLst/>
            <a:ahLst/>
            <a:cxnLst/>
            <a:rect r="r" b="b" t="t" l="l"/>
            <a:pathLst>
              <a:path h="1082267" w="1104718">
                <a:moveTo>
                  <a:pt x="0" y="0"/>
                </a:moveTo>
                <a:lnTo>
                  <a:pt x="1104718" y="0"/>
                </a:lnTo>
                <a:lnTo>
                  <a:pt x="1104718" y="1082266"/>
                </a:lnTo>
                <a:lnTo>
                  <a:pt x="0" y="1082266"/>
                </a:lnTo>
                <a:lnTo>
                  <a:pt x="0" y="0"/>
                </a:lnTo>
                <a:close/>
              </a:path>
            </a:pathLst>
          </a:custGeom>
          <a:blipFill>
            <a:blip r:embed="rId6"/>
            <a:stretch>
              <a:fillRect l="0" t="0" r="0" b="0"/>
            </a:stretch>
          </a:blipFill>
        </p:spPr>
      </p:sp>
      <p:sp>
        <p:nvSpPr>
          <p:cNvPr name="TextBox 8" id="8"/>
          <p:cNvSpPr txBox="true"/>
          <p:nvPr/>
        </p:nvSpPr>
        <p:spPr>
          <a:xfrm rot="0">
            <a:off x="635503" y="3288158"/>
            <a:ext cx="532802" cy="438854"/>
          </a:xfrm>
          <a:prstGeom prst="rect">
            <a:avLst/>
          </a:prstGeom>
        </p:spPr>
        <p:txBody>
          <a:bodyPr anchor="t" rtlCol="false" tIns="0" lIns="0" bIns="0" rIns="0">
            <a:spAutoFit/>
          </a:bodyPr>
          <a:lstStyle/>
          <a:p>
            <a:pPr algn="ctr">
              <a:lnSpc>
                <a:spcPts val="3366"/>
              </a:lnSpc>
            </a:pPr>
            <a:r>
              <a:rPr lang="en-US" b="true" sz="3366" spc="32">
                <a:solidFill>
                  <a:srgbClr val="F8F8F8"/>
                </a:solidFill>
                <a:latin typeface="Canva Sans Bold"/>
                <a:ea typeface="Canva Sans Bold"/>
                <a:cs typeface="Canva Sans Bold"/>
                <a:sym typeface="Canva Sans Bold"/>
              </a:rPr>
              <a:t>01</a:t>
            </a:r>
          </a:p>
        </p:txBody>
      </p:sp>
      <p:sp>
        <p:nvSpPr>
          <p:cNvPr name="Freeform 9" id="9"/>
          <p:cNvSpPr/>
          <p:nvPr/>
        </p:nvSpPr>
        <p:spPr>
          <a:xfrm flipH="false" flipV="false" rot="0">
            <a:off x="373384" y="4739005"/>
            <a:ext cx="1104718" cy="1289974"/>
          </a:xfrm>
          <a:custGeom>
            <a:avLst/>
            <a:gdLst/>
            <a:ahLst/>
            <a:cxnLst/>
            <a:rect r="r" b="b" t="t" l="l"/>
            <a:pathLst>
              <a:path h="1289974" w="1104718">
                <a:moveTo>
                  <a:pt x="0" y="0"/>
                </a:moveTo>
                <a:lnTo>
                  <a:pt x="1104718" y="0"/>
                </a:lnTo>
                <a:lnTo>
                  <a:pt x="1104718" y="1289975"/>
                </a:lnTo>
                <a:lnTo>
                  <a:pt x="0" y="1289975"/>
                </a:lnTo>
                <a:lnTo>
                  <a:pt x="0" y="0"/>
                </a:lnTo>
                <a:close/>
              </a:path>
            </a:pathLst>
          </a:custGeom>
          <a:blipFill>
            <a:blip r:embed="rId7"/>
            <a:stretch>
              <a:fillRect l="0" t="0" r="0" b="0"/>
            </a:stretch>
          </a:blipFill>
        </p:spPr>
      </p:sp>
      <p:sp>
        <p:nvSpPr>
          <p:cNvPr name="TextBox 10" id="10"/>
          <p:cNvSpPr txBox="true"/>
          <p:nvPr/>
        </p:nvSpPr>
        <p:spPr>
          <a:xfrm rot="0">
            <a:off x="635503" y="5248887"/>
            <a:ext cx="532802" cy="427432"/>
          </a:xfrm>
          <a:prstGeom prst="rect">
            <a:avLst/>
          </a:prstGeom>
        </p:spPr>
        <p:txBody>
          <a:bodyPr anchor="t" rtlCol="false" tIns="0" lIns="0" bIns="0" rIns="0">
            <a:spAutoFit/>
          </a:bodyPr>
          <a:lstStyle/>
          <a:p>
            <a:pPr algn="ctr">
              <a:lnSpc>
                <a:spcPts val="3291"/>
              </a:lnSpc>
            </a:pPr>
            <a:r>
              <a:rPr lang="en-US" b="true" sz="3291" spc="32">
                <a:solidFill>
                  <a:srgbClr val="F8F8F8"/>
                </a:solidFill>
                <a:latin typeface="Canva Sans Bold"/>
                <a:ea typeface="Canva Sans Bold"/>
                <a:cs typeface="Canva Sans Bold"/>
                <a:sym typeface="Canva Sans Bold"/>
              </a:rPr>
              <a:t>02</a:t>
            </a:r>
          </a:p>
        </p:txBody>
      </p:sp>
      <p:sp>
        <p:nvSpPr>
          <p:cNvPr name="TextBox 11" id="11"/>
          <p:cNvSpPr txBox="true"/>
          <p:nvPr/>
        </p:nvSpPr>
        <p:spPr>
          <a:xfrm rot="0">
            <a:off x="2093700" y="3105719"/>
            <a:ext cx="3648201" cy="406459"/>
          </a:xfrm>
          <a:prstGeom prst="rect">
            <a:avLst/>
          </a:prstGeom>
        </p:spPr>
        <p:txBody>
          <a:bodyPr anchor="t" rtlCol="false" tIns="0" lIns="0" bIns="0" rIns="0">
            <a:spAutoFit/>
          </a:bodyPr>
          <a:lstStyle/>
          <a:p>
            <a:pPr algn="l">
              <a:lnSpc>
                <a:spcPts val="3168"/>
              </a:lnSpc>
            </a:pPr>
            <a:r>
              <a:rPr lang="en-US" b="true" sz="3168" spc="30">
                <a:solidFill>
                  <a:srgbClr val="FFFFFF"/>
                </a:solidFill>
                <a:latin typeface="Heebo Bold"/>
                <a:ea typeface="Heebo Bold"/>
                <a:cs typeface="Heebo Bold"/>
                <a:sym typeface="Heebo Bold"/>
              </a:rPr>
              <a:t>DATA COLLECTION</a:t>
            </a:r>
          </a:p>
        </p:txBody>
      </p:sp>
      <p:sp>
        <p:nvSpPr>
          <p:cNvPr name="TextBox 12" id="12"/>
          <p:cNvSpPr txBox="true"/>
          <p:nvPr/>
        </p:nvSpPr>
        <p:spPr>
          <a:xfrm rot="0">
            <a:off x="2085532" y="3567813"/>
            <a:ext cx="11684925" cy="1280277"/>
          </a:xfrm>
          <a:prstGeom prst="rect">
            <a:avLst/>
          </a:prstGeom>
        </p:spPr>
        <p:txBody>
          <a:bodyPr anchor="t" rtlCol="false" tIns="0" lIns="0" bIns="0" rIns="0">
            <a:spAutoFit/>
          </a:bodyPr>
          <a:lstStyle/>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Downloaded YouTube Trending Videos dataset from Kaggle.</a:t>
            </a:r>
          </a:p>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Collected video details including views, likes, categories and channels.</a:t>
            </a:r>
          </a:p>
          <a:p>
            <a:pPr algn="l">
              <a:lnSpc>
                <a:spcPts val="3450"/>
              </a:lnSpc>
            </a:pPr>
          </a:p>
        </p:txBody>
      </p:sp>
      <p:sp>
        <p:nvSpPr>
          <p:cNvPr name="TextBox 13" id="13"/>
          <p:cNvSpPr txBox="true"/>
          <p:nvPr/>
        </p:nvSpPr>
        <p:spPr>
          <a:xfrm rot="0">
            <a:off x="2093073" y="5040914"/>
            <a:ext cx="3710906" cy="406459"/>
          </a:xfrm>
          <a:prstGeom prst="rect">
            <a:avLst/>
          </a:prstGeom>
        </p:spPr>
        <p:txBody>
          <a:bodyPr anchor="t" rtlCol="false" tIns="0" lIns="0" bIns="0" rIns="0">
            <a:spAutoFit/>
          </a:bodyPr>
          <a:lstStyle/>
          <a:p>
            <a:pPr algn="l">
              <a:lnSpc>
                <a:spcPts val="3168"/>
              </a:lnSpc>
            </a:pPr>
            <a:r>
              <a:rPr lang="en-US" b="true" sz="3168" spc="30">
                <a:solidFill>
                  <a:srgbClr val="FFFFFF"/>
                </a:solidFill>
                <a:latin typeface="Heebo Bold"/>
                <a:ea typeface="Heebo Bold"/>
                <a:cs typeface="Heebo Bold"/>
                <a:sym typeface="Heebo Bold"/>
              </a:rPr>
              <a:t>DATA PROCESSING</a:t>
            </a:r>
          </a:p>
        </p:txBody>
      </p:sp>
      <p:sp>
        <p:nvSpPr>
          <p:cNvPr name="TextBox 14" id="14"/>
          <p:cNvSpPr txBox="true"/>
          <p:nvPr/>
        </p:nvSpPr>
        <p:spPr>
          <a:xfrm rot="0">
            <a:off x="2093815" y="5563251"/>
            <a:ext cx="10073389" cy="1280277"/>
          </a:xfrm>
          <a:prstGeom prst="rect">
            <a:avLst/>
          </a:prstGeom>
        </p:spPr>
        <p:txBody>
          <a:bodyPr anchor="t" rtlCol="false" tIns="0" lIns="0" bIns="0" rIns="0">
            <a:spAutoFit/>
          </a:bodyPr>
          <a:lstStyle/>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Cleaned and prepared the dataset for analysis.</a:t>
            </a:r>
          </a:p>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Structured relevant fields for Power BI visualization.</a:t>
            </a:r>
          </a:p>
          <a:p>
            <a:pPr algn="l">
              <a:lnSpc>
                <a:spcPts val="3450"/>
              </a:lnSpc>
            </a:pPr>
          </a:p>
        </p:txBody>
      </p:sp>
      <p:sp>
        <p:nvSpPr>
          <p:cNvPr name="Freeform 15" id="15"/>
          <p:cNvSpPr/>
          <p:nvPr/>
        </p:nvSpPr>
        <p:spPr>
          <a:xfrm flipH="false" flipV="false" rot="0">
            <a:off x="495217" y="7043554"/>
            <a:ext cx="1104718" cy="1082267"/>
          </a:xfrm>
          <a:custGeom>
            <a:avLst/>
            <a:gdLst/>
            <a:ahLst/>
            <a:cxnLst/>
            <a:rect r="r" b="b" t="t" l="l"/>
            <a:pathLst>
              <a:path h="1082267" w="1104718">
                <a:moveTo>
                  <a:pt x="0" y="0"/>
                </a:moveTo>
                <a:lnTo>
                  <a:pt x="1104718" y="0"/>
                </a:lnTo>
                <a:lnTo>
                  <a:pt x="1104718" y="1082266"/>
                </a:lnTo>
                <a:lnTo>
                  <a:pt x="0" y="1082266"/>
                </a:lnTo>
                <a:lnTo>
                  <a:pt x="0" y="0"/>
                </a:lnTo>
                <a:close/>
              </a:path>
            </a:pathLst>
          </a:custGeom>
          <a:blipFill>
            <a:blip r:embed="rId8"/>
            <a:stretch>
              <a:fillRect l="0" t="0" r="0" b="0"/>
            </a:stretch>
          </a:blipFill>
        </p:spPr>
      </p:sp>
      <p:sp>
        <p:nvSpPr>
          <p:cNvPr name="TextBox 16" id="16"/>
          <p:cNvSpPr txBox="true"/>
          <p:nvPr/>
        </p:nvSpPr>
        <p:spPr>
          <a:xfrm rot="0">
            <a:off x="757336" y="7414680"/>
            <a:ext cx="532802" cy="416263"/>
          </a:xfrm>
          <a:prstGeom prst="rect">
            <a:avLst/>
          </a:prstGeom>
        </p:spPr>
        <p:txBody>
          <a:bodyPr anchor="t" rtlCol="false" tIns="0" lIns="0" bIns="0" rIns="0">
            <a:spAutoFit/>
          </a:bodyPr>
          <a:lstStyle/>
          <a:p>
            <a:pPr algn="ctr">
              <a:lnSpc>
                <a:spcPts val="3179"/>
              </a:lnSpc>
            </a:pPr>
            <a:r>
              <a:rPr lang="en-US" b="true" sz="3179" spc="31">
                <a:solidFill>
                  <a:srgbClr val="F8F8F8"/>
                </a:solidFill>
                <a:latin typeface="Canva Sans Bold"/>
                <a:ea typeface="Canva Sans Bold"/>
                <a:cs typeface="Canva Sans Bold"/>
                <a:sym typeface="Canva Sans Bold"/>
              </a:rPr>
              <a:t>03</a:t>
            </a:r>
          </a:p>
        </p:txBody>
      </p:sp>
      <p:sp>
        <p:nvSpPr>
          <p:cNvPr name="TextBox 17" id="17"/>
          <p:cNvSpPr txBox="true"/>
          <p:nvPr/>
        </p:nvSpPr>
        <p:spPr>
          <a:xfrm rot="0">
            <a:off x="2232399" y="7251067"/>
            <a:ext cx="7556931" cy="406459"/>
          </a:xfrm>
          <a:prstGeom prst="rect">
            <a:avLst/>
          </a:prstGeom>
        </p:spPr>
        <p:txBody>
          <a:bodyPr anchor="t" rtlCol="false" tIns="0" lIns="0" bIns="0" rIns="0">
            <a:spAutoFit/>
          </a:bodyPr>
          <a:lstStyle/>
          <a:p>
            <a:pPr algn="l">
              <a:lnSpc>
                <a:spcPts val="3168"/>
              </a:lnSpc>
            </a:pPr>
            <a:r>
              <a:rPr lang="en-US" b="true" sz="3168" spc="30">
                <a:solidFill>
                  <a:srgbClr val="FFFFFF"/>
                </a:solidFill>
                <a:latin typeface="Heebo Bold"/>
                <a:ea typeface="Heebo Bold"/>
                <a:cs typeface="Heebo Bold"/>
                <a:sym typeface="Heebo Bold"/>
              </a:rPr>
              <a:t>EXPLORATORY DATA ANALYSIS (EDA)</a:t>
            </a:r>
          </a:p>
        </p:txBody>
      </p:sp>
      <p:sp>
        <p:nvSpPr>
          <p:cNvPr name="TextBox 18" id="18"/>
          <p:cNvSpPr txBox="true"/>
          <p:nvPr/>
        </p:nvSpPr>
        <p:spPr>
          <a:xfrm rot="0">
            <a:off x="2205324" y="7698101"/>
            <a:ext cx="12427497" cy="1280277"/>
          </a:xfrm>
          <a:prstGeom prst="rect">
            <a:avLst/>
          </a:prstGeom>
        </p:spPr>
        <p:txBody>
          <a:bodyPr anchor="t" rtlCol="false" tIns="0" lIns="0" bIns="0" rIns="0">
            <a:spAutoFit/>
          </a:bodyPr>
          <a:lstStyle/>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Analyzed views, likes, categories and channel performance.</a:t>
            </a:r>
          </a:p>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Explored viewing patterns based on publishing hours.</a:t>
            </a:r>
          </a:p>
          <a:p>
            <a:pPr algn="l">
              <a:lnSpc>
                <a:spcPts val="345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51527" y="79153"/>
            <a:ext cx="20458280" cy="10287000"/>
          </a:xfrm>
          <a:custGeom>
            <a:avLst/>
            <a:gdLst/>
            <a:ahLst/>
            <a:cxnLst/>
            <a:rect r="r" b="b" t="t" l="l"/>
            <a:pathLst>
              <a:path h="10287000" w="20458280">
                <a:moveTo>
                  <a:pt x="0" y="0"/>
                </a:moveTo>
                <a:lnTo>
                  <a:pt x="20458280" y="0"/>
                </a:lnTo>
                <a:lnTo>
                  <a:pt x="20458280" y="10287000"/>
                </a:lnTo>
                <a:lnTo>
                  <a:pt x="0" y="10287000"/>
                </a:lnTo>
                <a:lnTo>
                  <a:pt x="0" y="0"/>
                </a:lnTo>
                <a:close/>
              </a:path>
            </a:pathLst>
          </a:custGeom>
          <a:blipFill>
            <a:blip r:embed="rId3"/>
            <a:stretch>
              <a:fillRect l="0" t="-52097" r="0" b="-52097"/>
            </a:stretch>
          </a:blipFill>
        </p:spPr>
      </p:sp>
      <p:sp>
        <p:nvSpPr>
          <p:cNvPr name="Freeform 4" id="4"/>
          <p:cNvSpPr/>
          <p:nvPr/>
        </p:nvSpPr>
        <p:spPr>
          <a:xfrm flipH="false" flipV="false" rot="0">
            <a:off x="0" y="79153"/>
            <a:ext cx="19383945" cy="10467330"/>
          </a:xfrm>
          <a:custGeom>
            <a:avLst/>
            <a:gdLst/>
            <a:ahLst/>
            <a:cxnLst/>
            <a:rect r="r" b="b" t="t" l="l"/>
            <a:pathLst>
              <a:path h="10467330" w="19383945">
                <a:moveTo>
                  <a:pt x="0" y="0"/>
                </a:moveTo>
                <a:lnTo>
                  <a:pt x="19383945" y="0"/>
                </a:lnTo>
                <a:lnTo>
                  <a:pt x="19383945" y="10467331"/>
                </a:lnTo>
                <a:lnTo>
                  <a:pt x="0" y="10467331"/>
                </a:lnTo>
                <a:lnTo>
                  <a:pt x="0" y="0"/>
                </a:lnTo>
                <a:close/>
              </a:path>
            </a:pathLst>
          </a:custGeom>
          <a:blipFill>
            <a:blip r:embed="rId4">
              <a:alphaModFix amt="87000"/>
            </a:blip>
            <a:stretch>
              <a:fillRect l="0" t="0" r="0" b="0"/>
            </a:stretch>
          </a:blipFill>
        </p:spPr>
      </p:sp>
      <p:sp>
        <p:nvSpPr>
          <p:cNvPr name="Freeform 5" id="5"/>
          <p:cNvSpPr/>
          <p:nvPr/>
        </p:nvSpPr>
        <p:spPr>
          <a:xfrm flipH="false" flipV="false" rot="0">
            <a:off x="645330" y="2142670"/>
            <a:ext cx="2187560" cy="218640"/>
          </a:xfrm>
          <a:custGeom>
            <a:avLst/>
            <a:gdLst/>
            <a:ahLst/>
            <a:cxnLst/>
            <a:rect r="r" b="b" t="t" l="l"/>
            <a:pathLst>
              <a:path h="218640" w="2187560">
                <a:moveTo>
                  <a:pt x="0" y="0"/>
                </a:moveTo>
                <a:lnTo>
                  <a:pt x="2187560" y="0"/>
                </a:lnTo>
                <a:lnTo>
                  <a:pt x="2187560" y="218639"/>
                </a:lnTo>
                <a:lnTo>
                  <a:pt x="0" y="218639"/>
                </a:lnTo>
                <a:lnTo>
                  <a:pt x="0" y="0"/>
                </a:lnTo>
                <a:close/>
              </a:path>
            </a:pathLst>
          </a:custGeom>
          <a:blipFill>
            <a:blip r:embed="rId5"/>
            <a:stretch>
              <a:fillRect l="0" t="0" r="0" b="0"/>
            </a:stretch>
          </a:blipFill>
        </p:spPr>
      </p:sp>
      <p:grpSp>
        <p:nvGrpSpPr>
          <p:cNvPr name="Group 6" id="6"/>
          <p:cNvGrpSpPr/>
          <p:nvPr/>
        </p:nvGrpSpPr>
        <p:grpSpPr>
          <a:xfrm rot="0">
            <a:off x="645330" y="2644099"/>
            <a:ext cx="12657952" cy="2036735"/>
            <a:chOff x="0" y="0"/>
            <a:chExt cx="16877269" cy="2715647"/>
          </a:xfrm>
        </p:grpSpPr>
        <p:sp>
          <p:nvSpPr>
            <p:cNvPr name="Freeform 7" id="7"/>
            <p:cNvSpPr/>
            <p:nvPr/>
          </p:nvSpPr>
          <p:spPr>
            <a:xfrm flipH="false" flipV="false" rot="0">
              <a:off x="0" y="0"/>
              <a:ext cx="1472957" cy="1734542"/>
            </a:xfrm>
            <a:custGeom>
              <a:avLst/>
              <a:gdLst/>
              <a:ahLst/>
              <a:cxnLst/>
              <a:rect r="r" b="b" t="t" l="l"/>
              <a:pathLst>
                <a:path h="1734542" w="1472957">
                  <a:moveTo>
                    <a:pt x="0" y="0"/>
                  </a:moveTo>
                  <a:lnTo>
                    <a:pt x="1472957" y="0"/>
                  </a:lnTo>
                  <a:lnTo>
                    <a:pt x="1472957" y="1734542"/>
                  </a:lnTo>
                  <a:lnTo>
                    <a:pt x="0" y="1734542"/>
                  </a:lnTo>
                  <a:lnTo>
                    <a:pt x="0" y="0"/>
                  </a:lnTo>
                  <a:close/>
                </a:path>
              </a:pathLst>
            </a:custGeom>
            <a:blipFill>
              <a:blip r:embed="rId6"/>
              <a:stretch>
                <a:fillRect l="0" t="0" r="0" b="0"/>
              </a:stretch>
            </a:blipFill>
          </p:spPr>
        </p:sp>
        <p:sp>
          <p:nvSpPr>
            <p:cNvPr name="TextBox 8" id="8"/>
            <p:cNvSpPr txBox="true"/>
            <p:nvPr/>
          </p:nvSpPr>
          <p:spPr>
            <a:xfrm rot="0">
              <a:off x="349492" y="673174"/>
              <a:ext cx="710403" cy="571538"/>
            </a:xfrm>
            <a:prstGeom prst="rect">
              <a:avLst/>
            </a:prstGeom>
          </p:spPr>
          <p:txBody>
            <a:bodyPr anchor="t" rtlCol="false" tIns="0" lIns="0" bIns="0" rIns="0">
              <a:spAutoFit/>
            </a:bodyPr>
            <a:lstStyle/>
            <a:p>
              <a:pPr algn="ctr">
                <a:lnSpc>
                  <a:spcPts val="3104"/>
                </a:lnSpc>
              </a:pPr>
              <a:r>
                <a:rPr lang="en-US" b="true" sz="3104" spc="30">
                  <a:solidFill>
                    <a:srgbClr val="F8F8F8"/>
                  </a:solidFill>
                  <a:latin typeface="Canva Sans Bold"/>
                  <a:ea typeface="Canva Sans Bold"/>
                  <a:cs typeface="Canva Sans Bold"/>
                  <a:sym typeface="Canva Sans Bold"/>
                </a:rPr>
                <a:t>04</a:t>
              </a:r>
            </a:p>
          </p:txBody>
        </p:sp>
        <p:sp>
          <p:nvSpPr>
            <p:cNvPr name="TextBox 9" id="9"/>
            <p:cNvSpPr txBox="true"/>
            <p:nvPr/>
          </p:nvSpPr>
          <p:spPr>
            <a:xfrm rot="0">
              <a:off x="1931020" y="410422"/>
              <a:ext cx="8445187" cy="564170"/>
            </a:xfrm>
            <a:prstGeom prst="rect">
              <a:avLst/>
            </a:prstGeom>
          </p:spPr>
          <p:txBody>
            <a:bodyPr anchor="t" rtlCol="false" tIns="0" lIns="0" bIns="0" rIns="0">
              <a:spAutoFit/>
            </a:bodyPr>
            <a:lstStyle/>
            <a:p>
              <a:pPr algn="l">
                <a:lnSpc>
                  <a:spcPts val="3168"/>
                </a:lnSpc>
              </a:pPr>
              <a:r>
                <a:rPr lang="en-US" b="true" sz="3168" spc="30">
                  <a:solidFill>
                    <a:srgbClr val="FFFFFF"/>
                  </a:solidFill>
                  <a:latin typeface="Heebo Bold"/>
                  <a:ea typeface="Heebo Bold"/>
                  <a:cs typeface="Heebo Bold"/>
                  <a:sym typeface="Heebo Bold"/>
                </a:rPr>
                <a:t>DATA TRANSFORMATION</a:t>
              </a:r>
            </a:p>
          </p:txBody>
        </p:sp>
        <p:sp>
          <p:nvSpPr>
            <p:cNvPr name="TextBox 10" id="10"/>
            <p:cNvSpPr txBox="true"/>
            <p:nvPr/>
          </p:nvSpPr>
          <p:spPr>
            <a:xfrm rot="0">
              <a:off x="2291538" y="1018135"/>
              <a:ext cx="14585730" cy="1697511"/>
            </a:xfrm>
            <a:prstGeom prst="rect">
              <a:avLst/>
            </a:prstGeom>
          </p:spPr>
          <p:txBody>
            <a:bodyPr anchor="t" rtlCol="false" tIns="0" lIns="0" bIns="0" rIns="0">
              <a:spAutoFit/>
            </a:bodyPr>
            <a:lstStyle/>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Derived Publish Hour from video publishing data.</a:t>
              </a:r>
            </a:p>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Aggregated views and likes by category, channel and publish hour.</a:t>
              </a:r>
            </a:p>
            <a:p>
              <a:pPr algn="l">
                <a:lnSpc>
                  <a:spcPts val="3450"/>
                </a:lnSpc>
              </a:pPr>
            </a:p>
          </p:txBody>
        </p:sp>
      </p:grpSp>
      <p:sp>
        <p:nvSpPr>
          <p:cNvPr name="Freeform 11" id="11"/>
          <p:cNvSpPr/>
          <p:nvPr/>
        </p:nvSpPr>
        <p:spPr>
          <a:xfrm flipH="false" flipV="false" rot="0">
            <a:off x="616904" y="4145030"/>
            <a:ext cx="1104718" cy="1289974"/>
          </a:xfrm>
          <a:custGeom>
            <a:avLst/>
            <a:gdLst/>
            <a:ahLst/>
            <a:cxnLst/>
            <a:rect r="r" b="b" t="t" l="l"/>
            <a:pathLst>
              <a:path h="1289974" w="1104718">
                <a:moveTo>
                  <a:pt x="0" y="0"/>
                </a:moveTo>
                <a:lnTo>
                  <a:pt x="1104718" y="0"/>
                </a:lnTo>
                <a:lnTo>
                  <a:pt x="1104718" y="1289975"/>
                </a:lnTo>
                <a:lnTo>
                  <a:pt x="0" y="1289975"/>
                </a:lnTo>
                <a:lnTo>
                  <a:pt x="0" y="0"/>
                </a:lnTo>
                <a:close/>
              </a:path>
            </a:pathLst>
          </a:custGeom>
          <a:blipFill>
            <a:blip r:embed="rId7"/>
            <a:stretch>
              <a:fillRect l="0" t="0" r="0" b="0"/>
            </a:stretch>
          </a:blipFill>
        </p:spPr>
      </p:sp>
      <p:sp>
        <p:nvSpPr>
          <p:cNvPr name="Freeform 12" id="12"/>
          <p:cNvSpPr/>
          <p:nvPr/>
        </p:nvSpPr>
        <p:spPr>
          <a:xfrm flipH="false" flipV="false" rot="0">
            <a:off x="616904" y="6287700"/>
            <a:ext cx="1104718" cy="1082267"/>
          </a:xfrm>
          <a:custGeom>
            <a:avLst/>
            <a:gdLst/>
            <a:ahLst/>
            <a:cxnLst/>
            <a:rect r="r" b="b" t="t" l="l"/>
            <a:pathLst>
              <a:path h="1082267" w="1104718">
                <a:moveTo>
                  <a:pt x="0" y="0"/>
                </a:moveTo>
                <a:lnTo>
                  <a:pt x="1104718" y="0"/>
                </a:lnTo>
                <a:lnTo>
                  <a:pt x="1104718" y="1082267"/>
                </a:lnTo>
                <a:lnTo>
                  <a:pt x="0" y="1082267"/>
                </a:lnTo>
                <a:lnTo>
                  <a:pt x="0" y="0"/>
                </a:lnTo>
                <a:close/>
              </a:path>
            </a:pathLst>
          </a:custGeom>
          <a:blipFill>
            <a:blip r:embed="rId8"/>
            <a:stretch>
              <a:fillRect l="0" t="0" r="0" b="0"/>
            </a:stretch>
          </a:blipFill>
        </p:spPr>
      </p:sp>
      <p:sp>
        <p:nvSpPr>
          <p:cNvPr name="Freeform 13" id="13"/>
          <p:cNvSpPr/>
          <p:nvPr/>
        </p:nvSpPr>
        <p:spPr>
          <a:xfrm flipH="false" flipV="false" rot="0">
            <a:off x="616904" y="7993090"/>
            <a:ext cx="1104718" cy="1300906"/>
          </a:xfrm>
          <a:custGeom>
            <a:avLst/>
            <a:gdLst/>
            <a:ahLst/>
            <a:cxnLst/>
            <a:rect r="r" b="b" t="t" l="l"/>
            <a:pathLst>
              <a:path h="1300906" w="1104718">
                <a:moveTo>
                  <a:pt x="0" y="0"/>
                </a:moveTo>
                <a:lnTo>
                  <a:pt x="1104718" y="0"/>
                </a:lnTo>
                <a:lnTo>
                  <a:pt x="1104718" y="1300906"/>
                </a:lnTo>
                <a:lnTo>
                  <a:pt x="0" y="1300906"/>
                </a:lnTo>
                <a:lnTo>
                  <a:pt x="0" y="0"/>
                </a:lnTo>
                <a:close/>
              </a:path>
            </a:pathLst>
          </a:custGeom>
          <a:blipFill>
            <a:blip r:embed="rId6"/>
            <a:stretch>
              <a:fillRect l="0" t="0" r="0" b="0"/>
            </a:stretch>
          </a:blipFill>
        </p:spPr>
      </p:sp>
      <p:sp>
        <p:nvSpPr>
          <p:cNvPr name="TextBox 14" id="14"/>
          <p:cNvSpPr txBox="true"/>
          <p:nvPr/>
        </p:nvSpPr>
        <p:spPr>
          <a:xfrm rot="0">
            <a:off x="616904" y="813013"/>
            <a:ext cx="5282234" cy="1125358"/>
          </a:xfrm>
          <a:prstGeom prst="rect">
            <a:avLst/>
          </a:prstGeom>
        </p:spPr>
        <p:txBody>
          <a:bodyPr anchor="t" rtlCol="false" tIns="0" lIns="0" bIns="0" rIns="0">
            <a:spAutoFit/>
          </a:bodyPr>
          <a:lstStyle/>
          <a:p>
            <a:pPr algn="l">
              <a:lnSpc>
                <a:spcPts val="8519"/>
              </a:lnSpc>
            </a:pPr>
            <a:r>
              <a:rPr lang="en-US" b="true" sz="8519" spc="170">
                <a:solidFill>
                  <a:srgbClr val="F8F8F8"/>
                </a:solidFill>
                <a:latin typeface="Heebo Heavy"/>
                <a:ea typeface="Heebo Heavy"/>
                <a:cs typeface="Heebo Heavy"/>
                <a:sym typeface="Heebo Heavy"/>
              </a:rPr>
              <a:t>MODULES</a:t>
            </a:r>
          </a:p>
        </p:txBody>
      </p:sp>
      <p:sp>
        <p:nvSpPr>
          <p:cNvPr name="TextBox 15" id="15"/>
          <p:cNvSpPr txBox="true"/>
          <p:nvPr/>
        </p:nvSpPr>
        <p:spPr>
          <a:xfrm rot="0">
            <a:off x="879023" y="4654912"/>
            <a:ext cx="1265059" cy="426504"/>
          </a:xfrm>
          <a:prstGeom prst="rect">
            <a:avLst/>
          </a:prstGeom>
        </p:spPr>
        <p:txBody>
          <a:bodyPr anchor="t" rtlCol="false" tIns="0" lIns="0" bIns="0" rIns="0">
            <a:spAutoFit/>
          </a:bodyPr>
          <a:lstStyle/>
          <a:p>
            <a:pPr algn="just">
              <a:lnSpc>
                <a:spcPts val="3291"/>
              </a:lnSpc>
            </a:pPr>
            <a:r>
              <a:rPr lang="en-US" b="true" sz="3291" spc="32">
                <a:solidFill>
                  <a:srgbClr val="F8F8F8"/>
                </a:solidFill>
                <a:latin typeface="Canva Sans Bold"/>
                <a:ea typeface="Canva Sans Bold"/>
                <a:cs typeface="Canva Sans Bold"/>
                <a:sym typeface="Canva Sans Bold"/>
              </a:rPr>
              <a:t>05</a:t>
            </a:r>
          </a:p>
        </p:txBody>
      </p:sp>
      <p:sp>
        <p:nvSpPr>
          <p:cNvPr name="TextBox 16" id="16"/>
          <p:cNvSpPr txBox="true"/>
          <p:nvPr/>
        </p:nvSpPr>
        <p:spPr>
          <a:xfrm rot="0">
            <a:off x="879023" y="6658826"/>
            <a:ext cx="2048403" cy="423658"/>
          </a:xfrm>
          <a:prstGeom prst="rect">
            <a:avLst/>
          </a:prstGeom>
        </p:spPr>
        <p:txBody>
          <a:bodyPr anchor="t" rtlCol="false" tIns="0" lIns="0" bIns="0" rIns="0">
            <a:spAutoFit/>
          </a:bodyPr>
          <a:lstStyle/>
          <a:p>
            <a:pPr algn="l">
              <a:lnSpc>
                <a:spcPts val="3179"/>
              </a:lnSpc>
            </a:pPr>
            <a:r>
              <a:rPr lang="en-US" b="true" sz="3179" spc="31">
                <a:solidFill>
                  <a:srgbClr val="F8F8F8"/>
                </a:solidFill>
                <a:latin typeface="Canva Sans Bold"/>
                <a:ea typeface="Canva Sans Bold"/>
                <a:cs typeface="Canva Sans Bold"/>
                <a:sym typeface="Canva Sans Bold"/>
              </a:rPr>
              <a:t>06</a:t>
            </a:r>
          </a:p>
        </p:txBody>
      </p:sp>
      <p:sp>
        <p:nvSpPr>
          <p:cNvPr name="TextBox 17" id="17"/>
          <p:cNvSpPr txBox="true"/>
          <p:nvPr/>
        </p:nvSpPr>
        <p:spPr>
          <a:xfrm rot="0">
            <a:off x="879023" y="8512258"/>
            <a:ext cx="532802" cy="414366"/>
          </a:xfrm>
          <a:prstGeom prst="rect">
            <a:avLst/>
          </a:prstGeom>
        </p:spPr>
        <p:txBody>
          <a:bodyPr anchor="t" rtlCol="false" tIns="0" lIns="0" bIns="0" rIns="0">
            <a:spAutoFit/>
          </a:bodyPr>
          <a:lstStyle/>
          <a:p>
            <a:pPr algn="ctr">
              <a:lnSpc>
                <a:spcPts val="3104"/>
              </a:lnSpc>
            </a:pPr>
            <a:r>
              <a:rPr lang="en-US" b="true" sz="3104" spc="30">
                <a:solidFill>
                  <a:srgbClr val="F8F8F8"/>
                </a:solidFill>
                <a:latin typeface="Canva Sans Bold"/>
                <a:ea typeface="Canva Sans Bold"/>
                <a:cs typeface="Canva Sans Bold"/>
                <a:sym typeface="Canva Sans Bold"/>
              </a:rPr>
              <a:t>07</a:t>
            </a:r>
          </a:p>
        </p:txBody>
      </p:sp>
      <p:sp>
        <p:nvSpPr>
          <p:cNvPr name="TextBox 18" id="18"/>
          <p:cNvSpPr txBox="true"/>
          <p:nvPr/>
        </p:nvSpPr>
        <p:spPr>
          <a:xfrm rot="0">
            <a:off x="2093595" y="4446939"/>
            <a:ext cx="3710906" cy="406459"/>
          </a:xfrm>
          <a:prstGeom prst="rect">
            <a:avLst/>
          </a:prstGeom>
        </p:spPr>
        <p:txBody>
          <a:bodyPr anchor="t" rtlCol="false" tIns="0" lIns="0" bIns="0" rIns="0">
            <a:spAutoFit/>
          </a:bodyPr>
          <a:lstStyle/>
          <a:p>
            <a:pPr algn="l">
              <a:lnSpc>
                <a:spcPts val="3168"/>
              </a:lnSpc>
            </a:pPr>
            <a:r>
              <a:rPr lang="en-US" b="true" sz="3168" spc="30">
                <a:solidFill>
                  <a:srgbClr val="FFFFFF"/>
                </a:solidFill>
                <a:latin typeface="Heebo Bold"/>
                <a:ea typeface="Heebo Bold"/>
                <a:cs typeface="Heebo Bold"/>
                <a:sym typeface="Heebo Bold"/>
              </a:rPr>
              <a:t>DATA MODELING </a:t>
            </a:r>
          </a:p>
        </p:txBody>
      </p:sp>
      <p:sp>
        <p:nvSpPr>
          <p:cNvPr name="TextBox 19" id="19"/>
          <p:cNvSpPr txBox="true"/>
          <p:nvPr/>
        </p:nvSpPr>
        <p:spPr>
          <a:xfrm rot="0">
            <a:off x="2337336" y="4969277"/>
            <a:ext cx="11720693" cy="1280277"/>
          </a:xfrm>
          <a:prstGeom prst="rect">
            <a:avLst/>
          </a:prstGeom>
        </p:spPr>
        <p:txBody>
          <a:bodyPr anchor="t" rtlCol="false" tIns="0" lIns="0" bIns="0" rIns="0">
            <a:spAutoFit/>
          </a:bodyPr>
          <a:lstStyle/>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Structured the cleaned dataset for Power BI analysis.</a:t>
            </a:r>
          </a:p>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Created measures for metrics such as Total Views and Total Likes.</a:t>
            </a:r>
          </a:p>
          <a:p>
            <a:pPr algn="l">
              <a:lnSpc>
                <a:spcPts val="3450"/>
              </a:lnSpc>
            </a:pPr>
          </a:p>
        </p:txBody>
      </p:sp>
      <p:sp>
        <p:nvSpPr>
          <p:cNvPr name="TextBox 20" id="20"/>
          <p:cNvSpPr txBox="true"/>
          <p:nvPr/>
        </p:nvSpPr>
        <p:spPr>
          <a:xfrm rot="0">
            <a:off x="2093595" y="6495214"/>
            <a:ext cx="9797415" cy="406459"/>
          </a:xfrm>
          <a:prstGeom prst="rect">
            <a:avLst/>
          </a:prstGeom>
        </p:spPr>
        <p:txBody>
          <a:bodyPr anchor="t" rtlCol="false" tIns="0" lIns="0" bIns="0" rIns="0">
            <a:spAutoFit/>
          </a:bodyPr>
          <a:lstStyle/>
          <a:p>
            <a:pPr algn="l">
              <a:lnSpc>
                <a:spcPts val="3168"/>
              </a:lnSpc>
            </a:pPr>
            <a:r>
              <a:rPr lang="en-US" b="true" sz="3168" spc="30">
                <a:solidFill>
                  <a:srgbClr val="FFFFFF"/>
                </a:solidFill>
                <a:latin typeface="Heebo Bold"/>
                <a:ea typeface="Heebo Bold"/>
                <a:cs typeface="Heebo Bold"/>
                <a:sym typeface="Heebo Bold"/>
              </a:rPr>
              <a:t>INTERPRETATION &amp; INSIGHTS</a:t>
            </a:r>
          </a:p>
        </p:txBody>
      </p:sp>
      <p:sp>
        <p:nvSpPr>
          <p:cNvPr name="TextBox 21" id="21"/>
          <p:cNvSpPr txBox="true"/>
          <p:nvPr/>
        </p:nvSpPr>
        <p:spPr>
          <a:xfrm rot="0">
            <a:off x="2327011" y="6942247"/>
            <a:ext cx="11535225" cy="1280277"/>
          </a:xfrm>
          <a:prstGeom prst="rect">
            <a:avLst/>
          </a:prstGeom>
        </p:spPr>
        <p:txBody>
          <a:bodyPr anchor="t" rtlCol="false" tIns="0" lIns="0" bIns="0" rIns="0">
            <a:spAutoFit/>
          </a:bodyPr>
          <a:lstStyle/>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Identified high-performing categories and channels.</a:t>
            </a:r>
          </a:p>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Analyzed relationships between views, likes and publishing time.</a:t>
            </a:r>
          </a:p>
          <a:p>
            <a:pPr algn="l">
              <a:lnSpc>
                <a:spcPts val="3450"/>
              </a:lnSpc>
            </a:pPr>
          </a:p>
        </p:txBody>
      </p:sp>
      <p:sp>
        <p:nvSpPr>
          <p:cNvPr name="TextBox 22" id="22"/>
          <p:cNvSpPr txBox="true"/>
          <p:nvPr/>
        </p:nvSpPr>
        <p:spPr>
          <a:xfrm rot="0">
            <a:off x="2093595" y="8317575"/>
            <a:ext cx="6333890" cy="406459"/>
          </a:xfrm>
          <a:prstGeom prst="rect">
            <a:avLst/>
          </a:prstGeom>
        </p:spPr>
        <p:txBody>
          <a:bodyPr anchor="t" rtlCol="false" tIns="0" lIns="0" bIns="0" rIns="0">
            <a:spAutoFit/>
          </a:bodyPr>
          <a:lstStyle/>
          <a:p>
            <a:pPr algn="l">
              <a:lnSpc>
                <a:spcPts val="3168"/>
              </a:lnSpc>
            </a:pPr>
            <a:r>
              <a:rPr lang="en-US" b="true" sz="3168" spc="30">
                <a:solidFill>
                  <a:srgbClr val="FFFFFF"/>
                </a:solidFill>
                <a:latin typeface="Heebo Bold"/>
                <a:ea typeface="Heebo Bold"/>
                <a:cs typeface="Heebo Bold"/>
                <a:sym typeface="Heebo Bold"/>
              </a:rPr>
              <a:t>VISUALIZATION &amp; REPORTING</a:t>
            </a:r>
          </a:p>
        </p:txBody>
      </p:sp>
      <p:sp>
        <p:nvSpPr>
          <p:cNvPr name="TextBox 23" id="23"/>
          <p:cNvSpPr txBox="true"/>
          <p:nvPr/>
        </p:nvSpPr>
        <p:spPr>
          <a:xfrm rot="0">
            <a:off x="2335558" y="8749548"/>
            <a:ext cx="11526677" cy="1280277"/>
          </a:xfrm>
          <a:prstGeom prst="rect">
            <a:avLst/>
          </a:prstGeom>
        </p:spPr>
        <p:txBody>
          <a:bodyPr anchor="t" rtlCol="false" tIns="0" lIns="0" bIns="0" rIns="0">
            <a:spAutoFit/>
          </a:bodyPr>
          <a:lstStyle/>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Developed an interactive Power BI dashboard.</a:t>
            </a:r>
          </a:p>
          <a:p>
            <a:pPr algn="l" marL="573063" indent="-286531" lvl="1">
              <a:lnSpc>
                <a:spcPts val="3447"/>
              </a:lnSpc>
              <a:buFont typeface="Arial"/>
              <a:buChar char="•"/>
            </a:pPr>
            <a:r>
              <a:rPr lang="en-US" sz="2654" spc="-53">
                <a:solidFill>
                  <a:srgbClr val="FFFFFF">
                    <a:alpha val="84706"/>
                  </a:srgbClr>
                </a:solidFill>
                <a:latin typeface="Heebo"/>
                <a:ea typeface="Heebo"/>
                <a:cs typeface="Heebo"/>
                <a:sym typeface="Heebo"/>
              </a:rPr>
              <a:t>Used charts, KPI cards and category filters to present insights.</a:t>
            </a:r>
          </a:p>
          <a:p>
            <a:pPr algn="l">
              <a:lnSpc>
                <a:spcPts val="345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26574" y="3214004"/>
            <a:ext cx="2406316" cy="218640"/>
          </a:xfrm>
          <a:custGeom>
            <a:avLst/>
            <a:gdLst/>
            <a:ahLst/>
            <a:cxnLst/>
            <a:rect r="r" b="b" t="t" l="l"/>
            <a:pathLst>
              <a:path h="218640" w="2406316">
                <a:moveTo>
                  <a:pt x="0" y="0"/>
                </a:moveTo>
                <a:lnTo>
                  <a:pt x="2406316" y="0"/>
                </a:lnTo>
                <a:lnTo>
                  <a:pt x="2406316" y="218640"/>
                </a:lnTo>
                <a:lnTo>
                  <a:pt x="0" y="218640"/>
                </a:lnTo>
                <a:lnTo>
                  <a:pt x="0" y="0"/>
                </a:lnTo>
                <a:close/>
              </a:path>
            </a:pathLst>
          </a:custGeom>
          <a:blipFill>
            <a:blip r:embed="rId3"/>
            <a:stretch>
              <a:fillRect l="0" t="0" r="0" b="0"/>
            </a:stretch>
          </a:blipFill>
        </p:spPr>
      </p:sp>
      <p:sp>
        <p:nvSpPr>
          <p:cNvPr name="Freeform 4" id="4"/>
          <p:cNvSpPr/>
          <p:nvPr/>
        </p:nvSpPr>
        <p:spPr>
          <a:xfrm flipH="false" flipV="false" rot="0">
            <a:off x="0" y="-844207"/>
            <a:ext cx="19054931" cy="12671529"/>
          </a:xfrm>
          <a:custGeom>
            <a:avLst/>
            <a:gdLst/>
            <a:ahLst/>
            <a:cxnLst/>
            <a:rect r="r" b="b" t="t" l="l"/>
            <a:pathLst>
              <a:path h="12671529" w="19054931">
                <a:moveTo>
                  <a:pt x="0" y="0"/>
                </a:moveTo>
                <a:lnTo>
                  <a:pt x="19054931" y="0"/>
                </a:lnTo>
                <a:lnTo>
                  <a:pt x="19054931" y="12671529"/>
                </a:lnTo>
                <a:lnTo>
                  <a:pt x="0" y="12671529"/>
                </a:lnTo>
                <a:lnTo>
                  <a:pt x="0" y="0"/>
                </a:lnTo>
                <a:close/>
              </a:path>
            </a:pathLst>
          </a:custGeom>
          <a:blipFill>
            <a:blip r:embed="rId4">
              <a:alphaModFix amt="9999"/>
            </a:blip>
            <a:stretch>
              <a:fillRect l="0" t="0" r="0" b="0"/>
            </a:stretch>
          </a:blipFill>
        </p:spPr>
      </p:sp>
      <p:sp>
        <p:nvSpPr>
          <p:cNvPr name="TextBox 5" id="5"/>
          <p:cNvSpPr txBox="true"/>
          <p:nvPr/>
        </p:nvSpPr>
        <p:spPr>
          <a:xfrm rot="0">
            <a:off x="526928" y="993481"/>
            <a:ext cx="8922077" cy="1984723"/>
          </a:xfrm>
          <a:prstGeom prst="rect">
            <a:avLst/>
          </a:prstGeom>
        </p:spPr>
        <p:txBody>
          <a:bodyPr anchor="t" rtlCol="false" tIns="0" lIns="0" bIns="0" rIns="0">
            <a:spAutoFit/>
          </a:bodyPr>
          <a:lstStyle/>
          <a:p>
            <a:pPr algn="l">
              <a:lnSpc>
                <a:spcPts val="7700"/>
              </a:lnSpc>
            </a:pPr>
            <a:r>
              <a:rPr lang="en-US" sz="7854" b="true">
                <a:solidFill>
                  <a:srgbClr val="F8F8F8"/>
                </a:solidFill>
                <a:latin typeface="Heebo Heavy"/>
                <a:ea typeface="Heebo Heavy"/>
                <a:cs typeface="Heebo Heavy"/>
                <a:sym typeface="Heebo Heavy"/>
              </a:rPr>
              <a:t>IMPLEMENTATION DETAILS</a:t>
            </a:r>
          </a:p>
        </p:txBody>
      </p:sp>
      <p:sp>
        <p:nvSpPr>
          <p:cNvPr name="TextBox 6" id="6"/>
          <p:cNvSpPr txBox="true"/>
          <p:nvPr/>
        </p:nvSpPr>
        <p:spPr>
          <a:xfrm rot="0">
            <a:off x="915017" y="3669416"/>
            <a:ext cx="5458946" cy="661762"/>
          </a:xfrm>
          <a:prstGeom prst="rect">
            <a:avLst/>
          </a:prstGeom>
        </p:spPr>
        <p:txBody>
          <a:bodyPr anchor="t" rtlCol="false" tIns="0" lIns="0" bIns="0" rIns="0">
            <a:spAutoFit/>
          </a:bodyPr>
          <a:lstStyle/>
          <a:p>
            <a:pPr algn="l">
              <a:lnSpc>
                <a:spcPts val="5395"/>
              </a:lnSpc>
            </a:pPr>
            <a:r>
              <a:rPr lang="en-US" sz="4151" b="true">
                <a:solidFill>
                  <a:srgbClr val="D6112A"/>
                </a:solidFill>
                <a:latin typeface="Heebo Bold"/>
                <a:ea typeface="Heebo Bold"/>
                <a:cs typeface="Heebo Bold"/>
                <a:sym typeface="Heebo Bold"/>
              </a:rPr>
              <a:t>SOFTWARE STACK</a:t>
            </a:r>
          </a:p>
        </p:txBody>
      </p:sp>
      <p:sp>
        <p:nvSpPr>
          <p:cNvPr name="TextBox 7" id="7"/>
          <p:cNvSpPr txBox="true"/>
          <p:nvPr/>
        </p:nvSpPr>
        <p:spPr>
          <a:xfrm rot="0">
            <a:off x="878199" y="4753180"/>
            <a:ext cx="11031074" cy="485302"/>
          </a:xfrm>
          <a:prstGeom prst="rect">
            <a:avLst/>
          </a:prstGeom>
        </p:spPr>
        <p:txBody>
          <a:bodyPr anchor="t" rtlCol="false" tIns="0" lIns="0" bIns="0" rIns="0">
            <a:spAutoFit/>
          </a:bodyPr>
          <a:lstStyle/>
          <a:p>
            <a:pPr algn="l" marL="657058" indent="-328529" lvl="1">
              <a:lnSpc>
                <a:spcPts val="3955"/>
              </a:lnSpc>
              <a:buFont typeface="Arial"/>
              <a:buChar char="•"/>
            </a:pPr>
            <a:r>
              <a:rPr lang="en-US" sz="3043">
                <a:solidFill>
                  <a:srgbClr val="FFFFFF">
                    <a:alpha val="84706"/>
                  </a:srgbClr>
                </a:solidFill>
                <a:latin typeface="Canva Sans"/>
                <a:ea typeface="Canva Sans"/>
                <a:cs typeface="Canva Sans"/>
                <a:sym typeface="Canva Sans"/>
              </a:rPr>
              <a:t>Programming Language:Python</a:t>
            </a:r>
          </a:p>
        </p:txBody>
      </p:sp>
      <p:sp>
        <p:nvSpPr>
          <p:cNvPr name="TextBox 8" id="8"/>
          <p:cNvSpPr txBox="true"/>
          <p:nvPr/>
        </p:nvSpPr>
        <p:spPr>
          <a:xfrm rot="0">
            <a:off x="878199" y="5562600"/>
            <a:ext cx="10653694" cy="485469"/>
          </a:xfrm>
          <a:prstGeom prst="rect">
            <a:avLst/>
          </a:prstGeom>
        </p:spPr>
        <p:txBody>
          <a:bodyPr anchor="t" rtlCol="false" tIns="0" lIns="0" bIns="0" rIns="0">
            <a:spAutoFit/>
          </a:bodyPr>
          <a:lstStyle/>
          <a:p>
            <a:pPr algn="l" marL="654213" indent="-327106" lvl="1">
              <a:lnSpc>
                <a:spcPts val="3938"/>
              </a:lnSpc>
              <a:buFont typeface="Arial"/>
              <a:buChar char="•"/>
            </a:pPr>
            <a:r>
              <a:rPr lang="en-US" sz="3030">
                <a:solidFill>
                  <a:srgbClr val="FFFFFF">
                    <a:alpha val="84706"/>
                  </a:srgbClr>
                </a:solidFill>
                <a:latin typeface="Canva Sans"/>
                <a:ea typeface="Canva Sans"/>
                <a:cs typeface="Canva Sans"/>
                <a:sym typeface="Canva Sans"/>
              </a:rPr>
              <a:t>Data Processing:Pandas,Numpy</a:t>
            </a:r>
          </a:p>
        </p:txBody>
      </p:sp>
      <p:sp>
        <p:nvSpPr>
          <p:cNvPr name="TextBox 9" id="9"/>
          <p:cNvSpPr txBox="true"/>
          <p:nvPr/>
        </p:nvSpPr>
        <p:spPr>
          <a:xfrm rot="0">
            <a:off x="915017" y="6372187"/>
            <a:ext cx="9216626" cy="503015"/>
          </a:xfrm>
          <a:prstGeom prst="rect">
            <a:avLst/>
          </a:prstGeom>
        </p:spPr>
        <p:txBody>
          <a:bodyPr anchor="t" rtlCol="false" tIns="0" lIns="0" bIns="0" rIns="0">
            <a:spAutoFit/>
          </a:bodyPr>
          <a:lstStyle/>
          <a:p>
            <a:pPr algn="l" marL="679829" indent="-339915" lvl="1">
              <a:lnSpc>
                <a:spcPts val="4092"/>
              </a:lnSpc>
              <a:buFont typeface="Arial"/>
              <a:buChar char="•"/>
            </a:pPr>
            <a:r>
              <a:rPr lang="en-US" sz="3148">
                <a:solidFill>
                  <a:srgbClr val="FFFFFF">
                    <a:alpha val="84706"/>
                  </a:srgbClr>
                </a:solidFill>
                <a:latin typeface="Canva Sans"/>
                <a:ea typeface="Canva Sans"/>
                <a:cs typeface="Canva Sans"/>
                <a:sym typeface="Canva Sans"/>
              </a:rPr>
              <a:t>Data Visualisation:Matplotlib,Seaborn</a:t>
            </a:r>
          </a:p>
        </p:txBody>
      </p:sp>
      <p:sp>
        <p:nvSpPr>
          <p:cNvPr name="TextBox 10" id="10"/>
          <p:cNvSpPr txBox="true"/>
          <p:nvPr/>
        </p:nvSpPr>
        <p:spPr>
          <a:xfrm rot="0">
            <a:off x="915017" y="7188596"/>
            <a:ext cx="11335310" cy="521731"/>
          </a:xfrm>
          <a:prstGeom prst="rect">
            <a:avLst/>
          </a:prstGeom>
        </p:spPr>
        <p:txBody>
          <a:bodyPr anchor="t" rtlCol="false" tIns="0" lIns="0" bIns="0" rIns="0">
            <a:spAutoFit/>
          </a:bodyPr>
          <a:lstStyle/>
          <a:p>
            <a:pPr algn="l" marL="685521" indent="-342760" lvl="1">
              <a:lnSpc>
                <a:spcPts val="4127"/>
              </a:lnSpc>
              <a:buFont typeface="Arial"/>
              <a:buChar char="•"/>
            </a:pPr>
            <a:r>
              <a:rPr lang="en-US" sz="3175">
                <a:solidFill>
                  <a:srgbClr val="FFFFFF">
                    <a:alpha val="84706"/>
                  </a:srgbClr>
                </a:solidFill>
                <a:latin typeface="Canva Sans"/>
                <a:ea typeface="Canva Sans"/>
                <a:cs typeface="Canva Sans"/>
                <a:sym typeface="Canva Sans"/>
              </a:rPr>
              <a:t>Dashboard:Microsoft Power BI</a:t>
            </a:r>
          </a:p>
        </p:txBody>
      </p:sp>
      <p:sp>
        <p:nvSpPr>
          <p:cNvPr name="TextBox 11" id="11"/>
          <p:cNvSpPr txBox="true"/>
          <p:nvPr/>
        </p:nvSpPr>
        <p:spPr>
          <a:xfrm rot="0">
            <a:off x="878199" y="8014197"/>
            <a:ext cx="15044450" cy="521731"/>
          </a:xfrm>
          <a:prstGeom prst="rect">
            <a:avLst/>
          </a:prstGeom>
        </p:spPr>
        <p:txBody>
          <a:bodyPr anchor="t" rtlCol="false" tIns="0" lIns="0" bIns="0" rIns="0">
            <a:spAutoFit/>
          </a:bodyPr>
          <a:lstStyle/>
          <a:p>
            <a:pPr algn="l" marL="685521" indent="-342760" lvl="1">
              <a:lnSpc>
                <a:spcPts val="4127"/>
              </a:lnSpc>
              <a:buFont typeface="Arial"/>
              <a:buChar char="•"/>
            </a:pPr>
            <a:r>
              <a:rPr lang="en-US" sz="3175">
                <a:solidFill>
                  <a:srgbClr val="FFFFFF">
                    <a:alpha val="84706"/>
                  </a:srgbClr>
                </a:solidFill>
                <a:latin typeface="Canva Sans"/>
                <a:ea typeface="Canva Sans"/>
                <a:cs typeface="Canva Sans"/>
                <a:sym typeface="Canva Sans"/>
              </a:rPr>
              <a:t>Data Set:Youtube Trending Vedios Stats 2026 -IN_Trending.csv</a:t>
            </a:r>
          </a:p>
        </p:txBody>
      </p:sp>
      <p:sp>
        <p:nvSpPr>
          <p:cNvPr name="TextBox 12" id="12"/>
          <p:cNvSpPr txBox="true"/>
          <p:nvPr/>
        </p:nvSpPr>
        <p:spPr>
          <a:xfrm rot="0">
            <a:off x="915017" y="8839797"/>
            <a:ext cx="9216626" cy="521731"/>
          </a:xfrm>
          <a:prstGeom prst="rect">
            <a:avLst/>
          </a:prstGeom>
        </p:spPr>
        <p:txBody>
          <a:bodyPr anchor="t" rtlCol="false" tIns="0" lIns="0" bIns="0" rIns="0">
            <a:spAutoFit/>
          </a:bodyPr>
          <a:lstStyle/>
          <a:p>
            <a:pPr algn="l" marL="685521" indent="-342760" lvl="1">
              <a:lnSpc>
                <a:spcPts val="4127"/>
              </a:lnSpc>
              <a:buFont typeface="Arial"/>
              <a:buChar char="•"/>
            </a:pPr>
            <a:r>
              <a:rPr lang="en-US" sz="3175">
                <a:solidFill>
                  <a:srgbClr val="FFFFFF">
                    <a:alpha val="84706"/>
                  </a:srgbClr>
                </a:solidFill>
                <a:latin typeface="Canva Sans"/>
                <a:ea typeface="Canva Sans"/>
                <a:cs typeface="Canva Sans"/>
                <a:sym typeface="Canva Sans"/>
              </a:rPr>
              <a:t>Development Platform:Google Collab</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26574" y="3214004"/>
            <a:ext cx="2406316" cy="218640"/>
          </a:xfrm>
          <a:custGeom>
            <a:avLst/>
            <a:gdLst/>
            <a:ahLst/>
            <a:cxnLst/>
            <a:rect r="r" b="b" t="t" l="l"/>
            <a:pathLst>
              <a:path h="218640" w="2406316">
                <a:moveTo>
                  <a:pt x="0" y="0"/>
                </a:moveTo>
                <a:lnTo>
                  <a:pt x="2406316" y="0"/>
                </a:lnTo>
                <a:lnTo>
                  <a:pt x="2406316" y="218640"/>
                </a:lnTo>
                <a:lnTo>
                  <a:pt x="0" y="218640"/>
                </a:lnTo>
                <a:lnTo>
                  <a:pt x="0" y="0"/>
                </a:lnTo>
                <a:close/>
              </a:path>
            </a:pathLst>
          </a:custGeom>
          <a:blipFill>
            <a:blip r:embed="rId3"/>
            <a:stretch>
              <a:fillRect l="0" t="0" r="0" b="0"/>
            </a:stretch>
          </a:blipFill>
        </p:spPr>
      </p:sp>
      <p:sp>
        <p:nvSpPr>
          <p:cNvPr name="Freeform 4" id="4"/>
          <p:cNvSpPr/>
          <p:nvPr/>
        </p:nvSpPr>
        <p:spPr>
          <a:xfrm flipH="false" flipV="false" rot="0">
            <a:off x="0" y="-844207"/>
            <a:ext cx="19054931" cy="12671529"/>
          </a:xfrm>
          <a:custGeom>
            <a:avLst/>
            <a:gdLst/>
            <a:ahLst/>
            <a:cxnLst/>
            <a:rect r="r" b="b" t="t" l="l"/>
            <a:pathLst>
              <a:path h="12671529" w="19054931">
                <a:moveTo>
                  <a:pt x="0" y="0"/>
                </a:moveTo>
                <a:lnTo>
                  <a:pt x="19054931" y="0"/>
                </a:lnTo>
                <a:lnTo>
                  <a:pt x="19054931" y="12671529"/>
                </a:lnTo>
                <a:lnTo>
                  <a:pt x="0" y="12671529"/>
                </a:lnTo>
                <a:lnTo>
                  <a:pt x="0" y="0"/>
                </a:lnTo>
                <a:close/>
              </a:path>
            </a:pathLst>
          </a:custGeom>
          <a:blipFill>
            <a:blip r:embed="rId4">
              <a:alphaModFix amt="9999"/>
            </a:blip>
            <a:stretch>
              <a:fillRect l="0" t="0" r="0" b="0"/>
            </a:stretch>
          </a:blipFill>
        </p:spPr>
      </p:sp>
      <p:sp>
        <p:nvSpPr>
          <p:cNvPr name="TextBox 5" id="5"/>
          <p:cNvSpPr txBox="true"/>
          <p:nvPr/>
        </p:nvSpPr>
        <p:spPr>
          <a:xfrm rot="0">
            <a:off x="526928" y="993481"/>
            <a:ext cx="8922077" cy="1984723"/>
          </a:xfrm>
          <a:prstGeom prst="rect">
            <a:avLst/>
          </a:prstGeom>
        </p:spPr>
        <p:txBody>
          <a:bodyPr anchor="t" rtlCol="false" tIns="0" lIns="0" bIns="0" rIns="0">
            <a:spAutoFit/>
          </a:bodyPr>
          <a:lstStyle/>
          <a:p>
            <a:pPr algn="l">
              <a:lnSpc>
                <a:spcPts val="7700"/>
              </a:lnSpc>
            </a:pPr>
            <a:r>
              <a:rPr lang="en-US" sz="7854" b="true">
                <a:solidFill>
                  <a:srgbClr val="F8F8F8"/>
                </a:solidFill>
                <a:latin typeface="Heebo Heavy"/>
                <a:ea typeface="Heebo Heavy"/>
                <a:cs typeface="Heebo Heavy"/>
                <a:sym typeface="Heebo Heavy"/>
              </a:rPr>
              <a:t>IMPLEMENTATION DETAILS</a:t>
            </a:r>
          </a:p>
        </p:txBody>
      </p:sp>
      <p:sp>
        <p:nvSpPr>
          <p:cNvPr name="TextBox 6" id="6"/>
          <p:cNvSpPr txBox="true"/>
          <p:nvPr/>
        </p:nvSpPr>
        <p:spPr>
          <a:xfrm rot="0">
            <a:off x="915017" y="3669416"/>
            <a:ext cx="7256479" cy="661762"/>
          </a:xfrm>
          <a:prstGeom prst="rect">
            <a:avLst/>
          </a:prstGeom>
        </p:spPr>
        <p:txBody>
          <a:bodyPr anchor="t" rtlCol="false" tIns="0" lIns="0" bIns="0" rIns="0">
            <a:spAutoFit/>
          </a:bodyPr>
          <a:lstStyle/>
          <a:p>
            <a:pPr algn="l">
              <a:lnSpc>
                <a:spcPts val="5395"/>
              </a:lnSpc>
            </a:pPr>
            <a:r>
              <a:rPr lang="en-US" sz="4151" b="true">
                <a:solidFill>
                  <a:srgbClr val="D6112A"/>
                </a:solidFill>
                <a:latin typeface="Heebo Bold"/>
                <a:ea typeface="Heebo Bold"/>
                <a:cs typeface="Heebo Bold"/>
                <a:sym typeface="Heebo Bold"/>
              </a:rPr>
              <a:t>HARDWARE REQUIREMENTS</a:t>
            </a:r>
          </a:p>
        </p:txBody>
      </p:sp>
      <p:sp>
        <p:nvSpPr>
          <p:cNvPr name="TextBox 7" id="7"/>
          <p:cNvSpPr txBox="true"/>
          <p:nvPr/>
        </p:nvSpPr>
        <p:spPr>
          <a:xfrm rot="0">
            <a:off x="915017" y="4540728"/>
            <a:ext cx="13966151" cy="4180840"/>
          </a:xfrm>
          <a:prstGeom prst="rect">
            <a:avLst/>
          </a:prstGeom>
        </p:spPr>
        <p:txBody>
          <a:bodyPr anchor="t" rtlCol="false" tIns="0" lIns="0" bIns="0" rIns="0">
            <a:spAutoFit/>
          </a:bodyPr>
          <a:lstStyle/>
          <a:p>
            <a:pPr algn="just" marL="734059" indent="-367030" lvl="1">
              <a:lnSpc>
                <a:spcPts val="4759"/>
              </a:lnSpc>
              <a:buFont typeface="Arial"/>
              <a:buChar char="•"/>
            </a:pPr>
            <a:r>
              <a:rPr lang="en-US" sz="3399">
                <a:solidFill>
                  <a:srgbClr val="FFFFFF"/>
                </a:solidFill>
                <a:latin typeface="Canva Sans"/>
                <a:ea typeface="Canva Sans"/>
                <a:cs typeface="Canva Sans"/>
                <a:sym typeface="Canva Sans"/>
              </a:rPr>
              <a:t>System: Laptop / Desktop</a:t>
            </a:r>
          </a:p>
          <a:p>
            <a:pPr algn="just" marL="734059" indent="-367030" lvl="1">
              <a:lnSpc>
                <a:spcPts val="4759"/>
              </a:lnSpc>
              <a:buFont typeface="Arial"/>
              <a:buChar char="•"/>
            </a:pPr>
            <a:r>
              <a:rPr lang="en-US" sz="3399">
                <a:solidFill>
                  <a:srgbClr val="FFFFFF"/>
                </a:solidFill>
                <a:latin typeface="Canva Sans"/>
                <a:ea typeface="Canva Sans"/>
                <a:cs typeface="Canva Sans"/>
                <a:sym typeface="Canva Sans"/>
              </a:rPr>
              <a:t>RAM: Minimum 4 GB</a:t>
            </a:r>
          </a:p>
          <a:p>
            <a:pPr algn="just" marL="734059" indent="-367030" lvl="1">
              <a:lnSpc>
                <a:spcPts val="4759"/>
              </a:lnSpc>
              <a:buFont typeface="Arial"/>
              <a:buChar char="•"/>
            </a:pPr>
            <a:r>
              <a:rPr lang="en-US" sz="3399">
                <a:solidFill>
                  <a:srgbClr val="FFFFFF"/>
                </a:solidFill>
                <a:latin typeface="Canva Sans"/>
                <a:ea typeface="Canva Sans"/>
                <a:cs typeface="Canva Sans"/>
                <a:sym typeface="Canva Sans"/>
              </a:rPr>
              <a:t>Processor: Intel Core i3 or equivalent</a:t>
            </a:r>
          </a:p>
          <a:p>
            <a:pPr algn="just" marL="734059" indent="-367030" lvl="1">
              <a:lnSpc>
                <a:spcPts val="4759"/>
              </a:lnSpc>
              <a:buFont typeface="Arial"/>
              <a:buChar char="•"/>
            </a:pPr>
            <a:r>
              <a:rPr lang="en-US" sz="3399">
                <a:solidFill>
                  <a:srgbClr val="FFFFFF"/>
                </a:solidFill>
                <a:latin typeface="Canva Sans"/>
                <a:ea typeface="Canva Sans"/>
                <a:cs typeface="Canva Sans"/>
                <a:sym typeface="Canva Sans"/>
              </a:rPr>
              <a:t>Storage: Sufficient space for dataset and required software</a:t>
            </a:r>
          </a:p>
          <a:p>
            <a:pPr algn="just" marL="734059" indent="-367030" lvl="1">
              <a:lnSpc>
                <a:spcPts val="4759"/>
              </a:lnSpc>
              <a:buFont typeface="Arial"/>
              <a:buChar char="•"/>
            </a:pPr>
            <a:r>
              <a:rPr lang="en-US" sz="3399">
                <a:solidFill>
                  <a:srgbClr val="FFFFFF"/>
                </a:solidFill>
                <a:latin typeface="Canva Sans"/>
                <a:ea typeface="Canva Sans"/>
                <a:cs typeface="Canva Sans"/>
                <a:sym typeface="Canva Sans"/>
              </a:rPr>
              <a:t>Input Devices: Keyboard and Mouse</a:t>
            </a:r>
          </a:p>
          <a:p>
            <a:pPr algn="just" marL="734059" indent="-367030" lvl="1">
              <a:lnSpc>
                <a:spcPts val="4759"/>
              </a:lnSpc>
              <a:buFont typeface="Arial"/>
              <a:buChar char="•"/>
            </a:pPr>
            <a:r>
              <a:rPr lang="en-US" sz="3399">
                <a:solidFill>
                  <a:srgbClr val="FFFFFF"/>
                </a:solidFill>
                <a:latin typeface="Canva Sans"/>
                <a:ea typeface="Canva Sans"/>
                <a:cs typeface="Canva Sans"/>
                <a:sym typeface="Canva Sans"/>
              </a:rPr>
              <a:t>Internet: Required for Google Colab and dataset/software setup</a:t>
            </a:r>
          </a:p>
          <a:p>
            <a:pPr algn="just">
              <a:lnSpc>
                <a:spcPts val="475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80708"/>
        </a:solidFill>
      </p:bgPr>
    </p:bg>
    <p:spTree>
      <p:nvGrpSpPr>
        <p:cNvPr id="1" name=""/>
        <p:cNvGrpSpPr/>
        <p:nvPr/>
      </p:nvGrpSpPr>
      <p:grpSpPr>
        <a:xfrm>
          <a:off x="0" y="0"/>
          <a:ext cx="0" cy="0"/>
          <a:chOff x="0" y="0"/>
          <a:chExt cx="0" cy="0"/>
        </a:xfrm>
      </p:grpSpPr>
      <p:sp>
        <p:nvSpPr>
          <p:cNvPr name="Freeform 2" id="2"/>
          <p:cNvSpPr/>
          <p:nvPr/>
        </p:nvSpPr>
        <p:spPr>
          <a:xfrm flipH="false" flipV="false" rot="0">
            <a:off x="730415" y="2268437"/>
            <a:ext cx="2187560" cy="229572"/>
          </a:xfrm>
          <a:custGeom>
            <a:avLst/>
            <a:gdLst/>
            <a:ahLst/>
            <a:cxnLst/>
            <a:rect r="r" b="b" t="t" l="l"/>
            <a:pathLst>
              <a:path h="229572" w="2187560">
                <a:moveTo>
                  <a:pt x="0" y="0"/>
                </a:moveTo>
                <a:lnTo>
                  <a:pt x="2187560" y="0"/>
                </a:lnTo>
                <a:lnTo>
                  <a:pt x="2187560" y="229572"/>
                </a:lnTo>
                <a:lnTo>
                  <a:pt x="0" y="229572"/>
                </a:lnTo>
                <a:lnTo>
                  <a:pt x="0" y="0"/>
                </a:lnTo>
                <a:close/>
              </a:path>
            </a:pathLst>
          </a:custGeom>
          <a:blipFill>
            <a:blip r:embed="rId2"/>
            <a:stretch>
              <a:fillRect l="0" t="0" r="0" b="0"/>
            </a:stretch>
          </a:blipFill>
        </p:spPr>
      </p:sp>
      <p:sp>
        <p:nvSpPr>
          <p:cNvPr name="TextBox 3" id="3"/>
          <p:cNvSpPr txBox="true"/>
          <p:nvPr/>
        </p:nvSpPr>
        <p:spPr>
          <a:xfrm rot="0">
            <a:off x="584740" y="2889886"/>
            <a:ext cx="16861882" cy="5854171"/>
          </a:xfrm>
          <a:prstGeom prst="rect">
            <a:avLst/>
          </a:prstGeom>
        </p:spPr>
        <p:txBody>
          <a:bodyPr anchor="t" rtlCol="false" tIns="0" lIns="0" bIns="0" rIns="0">
            <a:spAutoFit/>
          </a:bodyPr>
          <a:lstStyle/>
          <a:p>
            <a:pPr algn="just" marL="595202" indent="-297601" lvl="1">
              <a:lnSpc>
                <a:spcPts val="3859"/>
              </a:lnSpc>
              <a:buFont typeface="Arial"/>
              <a:buChar char="•"/>
            </a:pPr>
            <a:r>
              <a:rPr lang="en-US" sz="2756">
                <a:solidFill>
                  <a:srgbClr val="F8F8F8"/>
                </a:solidFill>
                <a:latin typeface="Canva Sans"/>
                <a:ea typeface="Canva Sans"/>
                <a:cs typeface="Canva Sans"/>
                <a:sym typeface="Canva Sans"/>
              </a:rPr>
              <a:t>Data </a:t>
            </a:r>
            <a:r>
              <a:rPr lang="en-US" sz="2756">
                <a:solidFill>
                  <a:srgbClr val="F8F8F8"/>
                </a:solidFill>
                <a:latin typeface="Canva Sans"/>
                <a:ea typeface="Canva Sans"/>
                <a:cs typeface="Canva Sans"/>
                <a:sym typeface="Canva Sans"/>
              </a:rPr>
              <a:t>Acquisition &amp; Preprocessing – Dataset collection, data cleaning, handling missing values and duplicates, and data type conversion.</a:t>
            </a:r>
          </a:p>
          <a:p>
            <a:pPr algn="just" marL="595202" indent="-297601" lvl="1">
              <a:lnSpc>
                <a:spcPts val="3859"/>
              </a:lnSpc>
              <a:buFont typeface="Arial"/>
              <a:buChar char="•"/>
            </a:pPr>
            <a:r>
              <a:rPr lang="en-US" sz="2756">
                <a:solidFill>
                  <a:srgbClr val="F8F8F8"/>
                </a:solidFill>
                <a:latin typeface="Canva Sans"/>
                <a:ea typeface="Canva Sans"/>
                <a:cs typeface="Canva Sans"/>
                <a:sym typeface="Canva Sans"/>
              </a:rPr>
              <a:t>Exploratory Data Analysis (EDA) – Analyzing category distribution, average views, top channels, publishing patterns, and relationships between variables.</a:t>
            </a:r>
          </a:p>
          <a:p>
            <a:pPr algn="just" marL="595202" indent="-297601" lvl="1">
              <a:lnSpc>
                <a:spcPts val="3859"/>
              </a:lnSpc>
              <a:buFont typeface="Arial"/>
              <a:buChar char="•"/>
            </a:pPr>
            <a:r>
              <a:rPr lang="en-US" sz="2756">
                <a:solidFill>
                  <a:srgbClr val="F8F8F8"/>
                </a:solidFill>
                <a:latin typeface="Canva Sans"/>
                <a:ea typeface="Canva Sans"/>
                <a:cs typeface="Canva Sans"/>
                <a:sym typeface="Canva Sans"/>
              </a:rPr>
              <a:t>Statistical Analysis – Using descriptive statistics to understand data distributions and identify patterns and relationships.</a:t>
            </a:r>
          </a:p>
          <a:p>
            <a:pPr algn="just" marL="595202" indent="-297601" lvl="1">
              <a:lnSpc>
                <a:spcPts val="3859"/>
              </a:lnSpc>
              <a:buFont typeface="Arial"/>
              <a:buChar char="•"/>
            </a:pPr>
            <a:r>
              <a:rPr lang="en-US" sz="2756">
                <a:solidFill>
                  <a:srgbClr val="F8F8F8"/>
                </a:solidFill>
                <a:latin typeface="Canva Sans"/>
                <a:ea typeface="Canva Sans"/>
                <a:cs typeface="Canva Sans"/>
                <a:sym typeface="Canva Sans"/>
              </a:rPr>
              <a:t>Data Transformation &amp; Feature Engineering – Creating features such as engagement rate, like rate, comment rate, publishing time, title length, and tag count.</a:t>
            </a:r>
          </a:p>
          <a:p>
            <a:pPr algn="just" marL="595202" indent="-297601" lvl="1">
              <a:lnSpc>
                <a:spcPts val="3859"/>
              </a:lnSpc>
              <a:buFont typeface="Arial"/>
              <a:buChar char="•"/>
            </a:pPr>
            <a:r>
              <a:rPr lang="en-US" sz="2756">
                <a:solidFill>
                  <a:srgbClr val="F8F8F8"/>
                </a:solidFill>
                <a:latin typeface="Canva Sans"/>
                <a:ea typeface="Canva Sans"/>
                <a:cs typeface="Canva Sans"/>
                <a:sym typeface="Canva Sans"/>
              </a:rPr>
              <a:t>Data Visualization – Using charts and graphs to communicate findings and presenting the results through a Power BI dashboard.</a:t>
            </a:r>
          </a:p>
          <a:p>
            <a:pPr algn="just">
              <a:lnSpc>
                <a:spcPts val="3859"/>
              </a:lnSpc>
            </a:pPr>
          </a:p>
          <a:p>
            <a:pPr algn="just">
              <a:lnSpc>
                <a:spcPts val="3859"/>
              </a:lnSpc>
            </a:pPr>
          </a:p>
        </p:txBody>
      </p:sp>
      <p:sp>
        <p:nvSpPr>
          <p:cNvPr name="Freeform 4" id="4"/>
          <p:cNvSpPr/>
          <p:nvPr/>
        </p:nvSpPr>
        <p:spPr>
          <a:xfrm flipH="false" flipV="false" rot="0">
            <a:off x="2486037" y="9355459"/>
            <a:ext cx="464749" cy="464749"/>
          </a:xfrm>
          <a:custGeom>
            <a:avLst/>
            <a:gdLst/>
            <a:ahLst/>
            <a:cxnLst/>
            <a:rect r="r" b="b" t="t" l="l"/>
            <a:pathLst>
              <a:path h="464749" w="464749">
                <a:moveTo>
                  <a:pt x="0" y="0"/>
                </a:moveTo>
                <a:lnTo>
                  <a:pt x="464750" y="0"/>
                </a:lnTo>
                <a:lnTo>
                  <a:pt x="464750" y="464749"/>
                </a:lnTo>
                <a:lnTo>
                  <a:pt x="0" y="4647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398712" y="9355459"/>
            <a:ext cx="462837" cy="462837"/>
          </a:xfrm>
          <a:custGeom>
            <a:avLst/>
            <a:gdLst/>
            <a:ahLst/>
            <a:cxnLst/>
            <a:rect r="r" b="b" t="t" l="l"/>
            <a:pathLst>
              <a:path h="462837" w="462837">
                <a:moveTo>
                  <a:pt x="0" y="0"/>
                </a:moveTo>
                <a:lnTo>
                  <a:pt x="462837" y="0"/>
                </a:lnTo>
                <a:lnTo>
                  <a:pt x="462837" y="462837"/>
                </a:lnTo>
                <a:lnTo>
                  <a:pt x="0" y="462837"/>
                </a:lnTo>
                <a:lnTo>
                  <a:pt x="0" y="0"/>
                </a:lnTo>
                <a:close/>
              </a:path>
            </a:pathLst>
          </a:custGeom>
          <a:blipFill>
            <a:blip r:embed="rId5"/>
            <a:stretch>
              <a:fillRect l="0" t="0" r="0" b="0"/>
            </a:stretch>
          </a:blipFill>
        </p:spPr>
      </p:sp>
      <p:sp>
        <p:nvSpPr>
          <p:cNvPr name="Freeform 6" id="6"/>
          <p:cNvSpPr/>
          <p:nvPr/>
        </p:nvSpPr>
        <p:spPr>
          <a:xfrm flipH="false" flipV="false" rot="0">
            <a:off x="11592039" y="9239231"/>
            <a:ext cx="651682" cy="651682"/>
          </a:xfrm>
          <a:custGeom>
            <a:avLst/>
            <a:gdLst/>
            <a:ahLst/>
            <a:cxnLst/>
            <a:rect r="r" b="b" t="t" l="l"/>
            <a:pathLst>
              <a:path h="651682" w="651682">
                <a:moveTo>
                  <a:pt x="0" y="0"/>
                </a:moveTo>
                <a:lnTo>
                  <a:pt x="651681" y="0"/>
                </a:lnTo>
                <a:lnTo>
                  <a:pt x="651681" y="651682"/>
                </a:lnTo>
                <a:lnTo>
                  <a:pt x="0" y="651682"/>
                </a:lnTo>
                <a:lnTo>
                  <a:pt x="0" y="0"/>
                </a:lnTo>
                <a:close/>
              </a:path>
            </a:pathLst>
          </a:custGeom>
          <a:blipFill>
            <a:blip r:embed="rId6"/>
            <a:stretch>
              <a:fillRect l="0" t="0" r="0" b="0"/>
            </a:stretch>
          </a:blipFill>
        </p:spPr>
      </p:sp>
      <p:sp>
        <p:nvSpPr>
          <p:cNvPr name="Freeform 7" id="7"/>
          <p:cNvSpPr/>
          <p:nvPr/>
        </p:nvSpPr>
        <p:spPr>
          <a:xfrm flipH="false" flipV="false" rot="0">
            <a:off x="8385674" y="9239231"/>
            <a:ext cx="758040" cy="758040"/>
          </a:xfrm>
          <a:custGeom>
            <a:avLst/>
            <a:gdLst/>
            <a:ahLst/>
            <a:cxnLst/>
            <a:rect r="r" b="b" t="t" l="l"/>
            <a:pathLst>
              <a:path h="758040" w="758040">
                <a:moveTo>
                  <a:pt x="0" y="0"/>
                </a:moveTo>
                <a:lnTo>
                  <a:pt x="758039" y="0"/>
                </a:lnTo>
                <a:lnTo>
                  <a:pt x="758039" y="758040"/>
                </a:lnTo>
                <a:lnTo>
                  <a:pt x="0" y="758040"/>
                </a:lnTo>
                <a:lnTo>
                  <a:pt x="0" y="0"/>
                </a:lnTo>
                <a:close/>
              </a:path>
            </a:pathLst>
          </a:custGeom>
          <a:blipFill>
            <a:blip r:embed="rId7">
              <a:alphaModFix amt="87000"/>
            </a:blip>
            <a:stretch>
              <a:fillRect l="0" t="0" r="0" b="0"/>
            </a:stretch>
          </a:blipFill>
        </p:spPr>
      </p:sp>
      <p:sp>
        <p:nvSpPr>
          <p:cNvPr name="Freeform 8" id="8"/>
          <p:cNvSpPr/>
          <p:nvPr/>
        </p:nvSpPr>
        <p:spPr>
          <a:xfrm flipH="false" flipV="false" rot="0">
            <a:off x="14929872" y="9182206"/>
            <a:ext cx="872090" cy="872090"/>
          </a:xfrm>
          <a:custGeom>
            <a:avLst/>
            <a:gdLst/>
            <a:ahLst/>
            <a:cxnLst/>
            <a:rect r="r" b="b" t="t" l="l"/>
            <a:pathLst>
              <a:path h="872090" w="872090">
                <a:moveTo>
                  <a:pt x="0" y="0"/>
                </a:moveTo>
                <a:lnTo>
                  <a:pt x="872091" y="0"/>
                </a:lnTo>
                <a:lnTo>
                  <a:pt x="872091" y="872090"/>
                </a:lnTo>
                <a:lnTo>
                  <a:pt x="0" y="872090"/>
                </a:lnTo>
                <a:lnTo>
                  <a:pt x="0" y="0"/>
                </a:lnTo>
                <a:close/>
              </a:path>
            </a:pathLst>
          </a:custGeom>
          <a:blipFill>
            <a:blip r:embed="rId8"/>
            <a:stretch>
              <a:fillRect l="0" t="0" r="0" b="0"/>
            </a:stretch>
          </a:blipFill>
        </p:spPr>
      </p:sp>
      <p:sp>
        <p:nvSpPr>
          <p:cNvPr name="TextBox 9" id="9"/>
          <p:cNvSpPr txBox="true"/>
          <p:nvPr/>
        </p:nvSpPr>
        <p:spPr>
          <a:xfrm rot="0">
            <a:off x="975452" y="1444141"/>
            <a:ext cx="9376023" cy="998070"/>
          </a:xfrm>
          <a:prstGeom prst="rect">
            <a:avLst/>
          </a:prstGeom>
        </p:spPr>
        <p:txBody>
          <a:bodyPr anchor="t" rtlCol="false" tIns="0" lIns="0" bIns="0" rIns="0">
            <a:spAutoFit/>
          </a:bodyPr>
          <a:lstStyle/>
          <a:p>
            <a:pPr algn="l">
              <a:lnSpc>
                <a:spcPts val="7313"/>
              </a:lnSpc>
            </a:pPr>
            <a:r>
              <a:rPr lang="en-US" sz="7866" b="true">
                <a:solidFill>
                  <a:srgbClr val="F8F8F8"/>
                </a:solidFill>
                <a:latin typeface="Heebo Ultra-Bold"/>
                <a:ea typeface="Heebo Ultra-Bold"/>
                <a:cs typeface="Heebo Ultra-Bold"/>
                <a:sym typeface="Heebo Ultra-Bold"/>
              </a:rPr>
              <a:t>CONCEPTS USED</a:t>
            </a:r>
          </a:p>
        </p:txBody>
      </p:sp>
      <p:sp>
        <p:nvSpPr>
          <p:cNvPr name="Freeform 10" id="10"/>
          <p:cNvSpPr/>
          <p:nvPr/>
        </p:nvSpPr>
        <p:spPr>
          <a:xfrm flipH="false" flipV="false" rot="0">
            <a:off x="462938" y="491833"/>
            <a:ext cx="2440306" cy="536867"/>
          </a:xfrm>
          <a:custGeom>
            <a:avLst/>
            <a:gdLst/>
            <a:ahLst/>
            <a:cxnLst/>
            <a:rect r="r" b="b" t="t" l="l"/>
            <a:pathLst>
              <a:path h="536867" w="2440306">
                <a:moveTo>
                  <a:pt x="0" y="0"/>
                </a:moveTo>
                <a:lnTo>
                  <a:pt x="2440306" y="0"/>
                </a:lnTo>
                <a:lnTo>
                  <a:pt x="2440306" y="536867"/>
                </a:lnTo>
                <a:lnTo>
                  <a:pt x="0" y="536867"/>
                </a:lnTo>
                <a:lnTo>
                  <a:pt x="0" y="0"/>
                </a:lnTo>
                <a:close/>
              </a:path>
            </a:pathLst>
          </a:custGeom>
          <a:blipFill>
            <a:blip r:embed="rId9">
              <a:alphaModFix amt="47000"/>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6216906" y="272266"/>
            <a:ext cx="519311" cy="573825"/>
          </a:xfrm>
          <a:custGeom>
            <a:avLst/>
            <a:gdLst/>
            <a:ahLst/>
            <a:cxnLst/>
            <a:rect r="r" b="b" t="t" l="l"/>
            <a:pathLst>
              <a:path h="573825" w="519311">
                <a:moveTo>
                  <a:pt x="0" y="0"/>
                </a:moveTo>
                <a:lnTo>
                  <a:pt x="519311" y="0"/>
                </a:lnTo>
                <a:lnTo>
                  <a:pt x="519311" y="573825"/>
                </a:lnTo>
                <a:lnTo>
                  <a:pt x="0" y="57382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7259300" y="309223"/>
            <a:ext cx="508923" cy="508923"/>
          </a:xfrm>
          <a:custGeom>
            <a:avLst/>
            <a:gdLst/>
            <a:ahLst/>
            <a:cxnLst/>
            <a:rect r="r" b="b" t="t" l="l"/>
            <a:pathLst>
              <a:path h="508923" w="508923">
                <a:moveTo>
                  <a:pt x="0" y="0"/>
                </a:moveTo>
                <a:lnTo>
                  <a:pt x="508923" y="0"/>
                </a:lnTo>
                <a:lnTo>
                  <a:pt x="508923" y="508924"/>
                </a:lnTo>
                <a:lnTo>
                  <a:pt x="0" y="50892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80708"/>
        </a:solidFill>
      </p:bgPr>
    </p:bg>
    <p:spTree>
      <p:nvGrpSpPr>
        <p:cNvPr id="1" name=""/>
        <p:cNvGrpSpPr/>
        <p:nvPr/>
      </p:nvGrpSpPr>
      <p:grpSpPr>
        <a:xfrm>
          <a:off x="0" y="0"/>
          <a:ext cx="0" cy="0"/>
          <a:chOff x="0" y="0"/>
          <a:chExt cx="0" cy="0"/>
        </a:xfrm>
      </p:grpSpPr>
      <p:sp>
        <p:nvSpPr>
          <p:cNvPr name="TextBox 2" id="2"/>
          <p:cNvSpPr txBox="true"/>
          <p:nvPr/>
        </p:nvSpPr>
        <p:spPr>
          <a:xfrm rot="0">
            <a:off x="633118" y="1463322"/>
            <a:ext cx="6965842" cy="1115248"/>
          </a:xfrm>
          <a:prstGeom prst="rect">
            <a:avLst/>
          </a:prstGeom>
        </p:spPr>
        <p:txBody>
          <a:bodyPr anchor="t" rtlCol="false" tIns="0" lIns="0" bIns="0" rIns="0">
            <a:spAutoFit/>
          </a:bodyPr>
          <a:lstStyle/>
          <a:p>
            <a:pPr algn="l">
              <a:lnSpc>
                <a:spcPts val="8496"/>
              </a:lnSpc>
            </a:pPr>
            <a:r>
              <a:rPr lang="en-US" b="true" sz="8496" spc="170">
                <a:solidFill>
                  <a:srgbClr val="F8F8F8"/>
                </a:solidFill>
                <a:latin typeface="Heebo Ultra-Bold"/>
                <a:ea typeface="Heebo Ultra-Bold"/>
                <a:cs typeface="Heebo Ultra-Bold"/>
                <a:sym typeface="Heebo Ultra-Bold"/>
              </a:rPr>
              <a:t>CONCLUSION</a:t>
            </a:r>
          </a:p>
        </p:txBody>
      </p:sp>
      <p:sp>
        <p:nvSpPr>
          <p:cNvPr name="Freeform 3" id="3"/>
          <p:cNvSpPr/>
          <p:nvPr/>
        </p:nvSpPr>
        <p:spPr>
          <a:xfrm flipH="false" flipV="false" rot="0">
            <a:off x="426574" y="2490564"/>
            <a:ext cx="2709044" cy="176013"/>
          </a:xfrm>
          <a:custGeom>
            <a:avLst/>
            <a:gdLst/>
            <a:ahLst/>
            <a:cxnLst/>
            <a:rect r="r" b="b" t="t" l="l"/>
            <a:pathLst>
              <a:path h="176013" w="2709044">
                <a:moveTo>
                  <a:pt x="0" y="0"/>
                </a:moveTo>
                <a:lnTo>
                  <a:pt x="2709045" y="0"/>
                </a:lnTo>
                <a:lnTo>
                  <a:pt x="2709045" y="176013"/>
                </a:lnTo>
                <a:lnTo>
                  <a:pt x="0" y="176013"/>
                </a:lnTo>
                <a:lnTo>
                  <a:pt x="0" y="0"/>
                </a:lnTo>
                <a:close/>
              </a:path>
            </a:pathLst>
          </a:custGeom>
          <a:blipFill>
            <a:blip r:embed="rId2"/>
            <a:stretch>
              <a:fillRect l="0" t="0" r="0" b="-61520"/>
            </a:stretch>
          </a:blipFill>
        </p:spPr>
      </p:sp>
      <p:sp>
        <p:nvSpPr>
          <p:cNvPr name="TextBox 4" id="4"/>
          <p:cNvSpPr txBox="true"/>
          <p:nvPr/>
        </p:nvSpPr>
        <p:spPr>
          <a:xfrm rot="0">
            <a:off x="426574" y="3461141"/>
            <a:ext cx="13992214" cy="3834691"/>
          </a:xfrm>
          <a:prstGeom prst="rect">
            <a:avLst/>
          </a:prstGeom>
        </p:spPr>
        <p:txBody>
          <a:bodyPr anchor="t" rtlCol="false" tIns="0" lIns="0" bIns="0" rIns="0">
            <a:spAutoFit/>
          </a:bodyPr>
          <a:lstStyle/>
          <a:p>
            <a:pPr algn="l" marL="561730" indent="-280865" lvl="1">
              <a:lnSpc>
                <a:spcPts val="3902"/>
              </a:lnSpc>
              <a:buFont typeface="Arial"/>
              <a:buChar char="•"/>
            </a:pPr>
            <a:r>
              <a:rPr lang="en-US" sz="2601" spc="-23">
                <a:solidFill>
                  <a:srgbClr val="D9D9D9"/>
                </a:solidFill>
                <a:latin typeface="Heebo"/>
                <a:ea typeface="Heebo"/>
                <a:cs typeface="Heebo"/>
                <a:sym typeface="Heebo"/>
              </a:rPr>
              <a:t>The project analyzes the characteristics and patterns of YouTube trending videos.</a:t>
            </a:r>
          </a:p>
          <a:p>
            <a:pPr algn="l" marL="561730" indent="-280865" lvl="1">
              <a:lnSpc>
                <a:spcPts val="3902"/>
              </a:lnSpc>
              <a:buFont typeface="Arial"/>
              <a:buChar char="•"/>
            </a:pPr>
            <a:r>
              <a:rPr lang="en-US" sz="2601" spc="-23">
                <a:solidFill>
                  <a:srgbClr val="D9D9D9"/>
                </a:solidFill>
                <a:latin typeface="Heebo"/>
                <a:ea typeface="Heebo"/>
                <a:cs typeface="Heebo"/>
                <a:sym typeface="Heebo"/>
              </a:rPr>
              <a:t>Data analysis helps identify relationships between performance, engagement, categories, and publishing patterns.</a:t>
            </a:r>
          </a:p>
          <a:p>
            <a:pPr algn="l" marL="561730" indent="-280865" lvl="1">
              <a:lnSpc>
                <a:spcPts val="3902"/>
              </a:lnSpc>
              <a:buFont typeface="Arial"/>
              <a:buChar char="•"/>
            </a:pPr>
            <a:r>
              <a:rPr lang="en-US" sz="2601" spc="-23">
                <a:solidFill>
                  <a:srgbClr val="D9D9D9"/>
                </a:solidFill>
                <a:latin typeface="Heebo"/>
                <a:ea typeface="Heebo"/>
                <a:cs typeface="Heebo"/>
                <a:sym typeface="Heebo"/>
              </a:rPr>
              <a:t>Feature engineering provides additional measures for better comparison of videos.</a:t>
            </a:r>
          </a:p>
          <a:p>
            <a:pPr algn="l" marL="561730" indent="-280865" lvl="1">
              <a:lnSpc>
                <a:spcPts val="3902"/>
              </a:lnSpc>
              <a:buFont typeface="Arial"/>
              <a:buChar char="•"/>
            </a:pPr>
            <a:r>
              <a:rPr lang="en-US" sz="2601" spc="-23">
                <a:solidFill>
                  <a:srgbClr val="D9D9D9"/>
                </a:solidFill>
                <a:latin typeface="Heebo"/>
                <a:ea typeface="Heebo"/>
                <a:cs typeface="Heebo"/>
                <a:sym typeface="Heebo"/>
              </a:rPr>
              <a:t>Visualizations and the interactive dashboard make the findings easier to understand.</a:t>
            </a:r>
          </a:p>
          <a:p>
            <a:pPr algn="l" marL="561730" indent="-280865" lvl="1">
              <a:lnSpc>
                <a:spcPts val="3902"/>
              </a:lnSpc>
              <a:buFont typeface="Arial"/>
              <a:buChar char="•"/>
            </a:pPr>
            <a:r>
              <a:rPr lang="en-US" sz="2601" spc="-23">
                <a:solidFill>
                  <a:srgbClr val="D9D9D9"/>
                </a:solidFill>
                <a:latin typeface="Heebo"/>
                <a:ea typeface="Heebo"/>
                <a:cs typeface="Heebo"/>
                <a:sym typeface="Heebo"/>
              </a:rPr>
              <a:t>The insights can help content creators make more data-driven decisions when planning and improving their videos.</a:t>
            </a:r>
          </a:p>
          <a:p>
            <a:pPr algn="l">
              <a:lnSpc>
                <a:spcPts val="3902"/>
              </a:lnSpc>
            </a:pPr>
          </a:p>
        </p:txBody>
      </p:sp>
      <p:sp>
        <p:nvSpPr>
          <p:cNvPr name="Freeform 5" id="5"/>
          <p:cNvSpPr/>
          <p:nvPr/>
        </p:nvSpPr>
        <p:spPr>
          <a:xfrm flipH="false" flipV="false" rot="0">
            <a:off x="462938" y="491833"/>
            <a:ext cx="2440306" cy="536867"/>
          </a:xfrm>
          <a:custGeom>
            <a:avLst/>
            <a:gdLst/>
            <a:ahLst/>
            <a:cxnLst/>
            <a:rect r="r" b="b" t="t" l="l"/>
            <a:pathLst>
              <a:path h="536867" w="2440306">
                <a:moveTo>
                  <a:pt x="0" y="0"/>
                </a:moveTo>
                <a:lnTo>
                  <a:pt x="2440306" y="0"/>
                </a:lnTo>
                <a:lnTo>
                  <a:pt x="2440306" y="536867"/>
                </a:lnTo>
                <a:lnTo>
                  <a:pt x="0" y="536867"/>
                </a:lnTo>
                <a:lnTo>
                  <a:pt x="0" y="0"/>
                </a:lnTo>
                <a:close/>
              </a:path>
            </a:pathLst>
          </a:custGeom>
          <a:blipFill>
            <a:blip r:embed="rId3">
              <a:alphaModFix amt="47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6216906" y="272266"/>
            <a:ext cx="519311" cy="573825"/>
          </a:xfrm>
          <a:custGeom>
            <a:avLst/>
            <a:gdLst/>
            <a:ahLst/>
            <a:cxnLst/>
            <a:rect r="r" b="b" t="t" l="l"/>
            <a:pathLst>
              <a:path h="573825" w="519311">
                <a:moveTo>
                  <a:pt x="0" y="0"/>
                </a:moveTo>
                <a:lnTo>
                  <a:pt x="519311" y="0"/>
                </a:lnTo>
                <a:lnTo>
                  <a:pt x="519311" y="573825"/>
                </a:lnTo>
                <a:lnTo>
                  <a:pt x="0" y="5738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7259300" y="309223"/>
            <a:ext cx="508923" cy="508923"/>
          </a:xfrm>
          <a:custGeom>
            <a:avLst/>
            <a:gdLst/>
            <a:ahLst/>
            <a:cxnLst/>
            <a:rect r="r" b="b" t="t" l="l"/>
            <a:pathLst>
              <a:path h="508923" w="508923">
                <a:moveTo>
                  <a:pt x="0" y="0"/>
                </a:moveTo>
                <a:lnTo>
                  <a:pt x="508923" y="0"/>
                </a:lnTo>
                <a:lnTo>
                  <a:pt x="508923" y="508924"/>
                </a:lnTo>
                <a:lnTo>
                  <a:pt x="0" y="5089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2486037" y="9355459"/>
            <a:ext cx="464749" cy="464749"/>
          </a:xfrm>
          <a:custGeom>
            <a:avLst/>
            <a:gdLst/>
            <a:ahLst/>
            <a:cxnLst/>
            <a:rect r="r" b="b" t="t" l="l"/>
            <a:pathLst>
              <a:path h="464749" w="464749">
                <a:moveTo>
                  <a:pt x="0" y="0"/>
                </a:moveTo>
                <a:lnTo>
                  <a:pt x="464750" y="0"/>
                </a:lnTo>
                <a:lnTo>
                  <a:pt x="464750" y="464749"/>
                </a:lnTo>
                <a:lnTo>
                  <a:pt x="0" y="46474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5398712" y="9355459"/>
            <a:ext cx="462837" cy="462837"/>
          </a:xfrm>
          <a:custGeom>
            <a:avLst/>
            <a:gdLst/>
            <a:ahLst/>
            <a:cxnLst/>
            <a:rect r="r" b="b" t="t" l="l"/>
            <a:pathLst>
              <a:path h="462837" w="462837">
                <a:moveTo>
                  <a:pt x="0" y="0"/>
                </a:moveTo>
                <a:lnTo>
                  <a:pt x="462837" y="0"/>
                </a:lnTo>
                <a:lnTo>
                  <a:pt x="462837" y="462837"/>
                </a:lnTo>
                <a:lnTo>
                  <a:pt x="0" y="462837"/>
                </a:lnTo>
                <a:lnTo>
                  <a:pt x="0" y="0"/>
                </a:lnTo>
                <a:close/>
              </a:path>
            </a:pathLst>
          </a:custGeom>
          <a:blipFill>
            <a:blip r:embed="rId11"/>
            <a:stretch>
              <a:fillRect l="0" t="0" r="0" b="0"/>
            </a:stretch>
          </a:blipFill>
        </p:spPr>
      </p:sp>
      <p:sp>
        <p:nvSpPr>
          <p:cNvPr name="Freeform 10" id="10"/>
          <p:cNvSpPr/>
          <p:nvPr/>
        </p:nvSpPr>
        <p:spPr>
          <a:xfrm flipH="false" flipV="false" rot="0">
            <a:off x="11592039" y="9239231"/>
            <a:ext cx="651682" cy="651682"/>
          </a:xfrm>
          <a:custGeom>
            <a:avLst/>
            <a:gdLst/>
            <a:ahLst/>
            <a:cxnLst/>
            <a:rect r="r" b="b" t="t" l="l"/>
            <a:pathLst>
              <a:path h="651682" w="651682">
                <a:moveTo>
                  <a:pt x="0" y="0"/>
                </a:moveTo>
                <a:lnTo>
                  <a:pt x="651681" y="0"/>
                </a:lnTo>
                <a:lnTo>
                  <a:pt x="651681" y="651682"/>
                </a:lnTo>
                <a:lnTo>
                  <a:pt x="0" y="651682"/>
                </a:lnTo>
                <a:lnTo>
                  <a:pt x="0" y="0"/>
                </a:lnTo>
                <a:close/>
              </a:path>
            </a:pathLst>
          </a:custGeom>
          <a:blipFill>
            <a:blip r:embed="rId12"/>
            <a:stretch>
              <a:fillRect l="0" t="0" r="0" b="0"/>
            </a:stretch>
          </a:blipFill>
        </p:spPr>
      </p:sp>
      <p:sp>
        <p:nvSpPr>
          <p:cNvPr name="Freeform 11" id="11"/>
          <p:cNvSpPr/>
          <p:nvPr/>
        </p:nvSpPr>
        <p:spPr>
          <a:xfrm flipH="false" flipV="false" rot="0">
            <a:off x="8385674" y="9239231"/>
            <a:ext cx="758040" cy="758040"/>
          </a:xfrm>
          <a:custGeom>
            <a:avLst/>
            <a:gdLst/>
            <a:ahLst/>
            <a:cxnLst/>
            <a:rect r="r" b="b" t="t" l="l"/>
            <a:pathLst>
              <a:path h="758040" w="758040">
                <a:moveTo>
                  <a:pt x="0" y="0"/>
                </a:moveTo>
                <a:lnTo>
                  <a:pt x="758039" y="0"/>
                </a:lnTo>
                <a:lnTo>
                  <a:pt x="758039" y="758040"/>
                </a:lnTo>
                <a:lnTo>
                  <a:pt x="0" y="758040"/>
                </a:lnTo>
                <a:lnTo>
                  <a:pt x="0" y="0"/>
                </a:lnTo>
                <a:close/>
              </a:path>
            </a:pathLst>
          </a:custGeom>
          <a:blipFill>
            <a:blip r:embed="rId13">
              <a:alphaModFix amt="87000"/>
            </a:blip>
            <a:stretch>
              <a:fillRect l="0" t="0" r="0" b="0"/>
            </a:stretch>
          </a:blipFill>
        </p:spPr>
      </p:sp>
      <p:sp>
        <p:nvSpPr>
          <p:cNvPr name="Freeform 12" id="12"/>
          <p:cNvSpPr/>
          <p:nvPr/>
        </p:nvSpPr>
        <p:spPr>
          <a:xfrm flipH="false" flipV="false" rot="0">
            <a:off x="14929872" y="9182206"/>
            <a:ext cx="872090" cy="872090"/>
          </a:xfrm>
          <a:custGeom>
            <a:avLst/>
            <a:gdLst/>
            <a:ahLst/>
            <a:cxnLst/>
            <a:rect r="r" b="b" t="t" l="l"/>
            <a:pathLst>
              <a:path h="872090" w="872090">
                <a:moveTo>
                  <a:pt x="0" y="0"/>
                </a:moveTo>
                <a:lnTo>
                  <a:pt x="872091" y="0"/>
                </a:lnTo>
                <a:lnTo>
                  <a:pt x="872091" y="872090"/>
                </a:lnTo>
                <a:lnTo>
                  <a:pt x="0" y="872090"/>
                </a:lnTo>
                <a:lnTo>
                  <a:pt x="0" y="0"/>
                </a:lnTo>
                <a:close/>
              </a:path>
            </a:pathLst>
          </a:custGeom>
          <a:blipFill>
            <a:blip r:embed="rId1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80708"/>
        </a:solidFill>
      </p:bgPr>
    </p:bg>
    <p:spTree>
      <p:nvGrpSpPr>
        <p:cNvPr id="1" name=""/>
        <p:cNvGrpSpPr/>
        <p:nvPr/>
      </p:nvGrpSpPr>
      <p:grpSpPr>
        <a:xfrm>
          <a:off x="0" y="0"/>
          <a:ext cx="0" cy="0"/>
          <a:chOff x="0" y="0"/>
          <a:chExt cx="0" cy="0"/>
        </a:xfrm>
      </p:grpSpPr>
      <p:sp>
        <p:nvSpPr>
          <p:cNvPr name="Freeform 2" id="2"/>
          <p:cNvSpPr/>
          <p:nvPr/>
        </p:nvSpPr>
        <p:spPr>
          <a:xfrm flipH="false" flipV="false" rot="0">
            <a:off x="426574" y="2569017"/>
            <a:ext cx="2406316" cy="218640"/>
          </a:xfrm>
          <a:custGeom>
            <a:avLst/>
            <a:gdLst/>
            <a:ahLst/>
            <a:cxnLst/>
            <a:rect r="r" b="b" t="t" l="l"/>
            <a:pathLst>
              <a:path h="218640" w="2406316">
                <a:moveTo>
                  <a:pt x="0" y="0"/>
                </a:moveTo>
                <a:lnTo>
                  <a:pt x="2406316" y="0"/>
                </a:lnTo>
                <a:lnTo>
                  <a:pt x="2406316" y="218640"/>
                </a:lnTo>
                <a:lnTo>
                  <a:pt x="0" y="218640"/>
                </a:lnTo>
                <a:lnTo>
                  <a:pt x="0" y="0"/>
                </a:lnTo>
                <a:close/>
              </a:path>
            </a:pathLst>
          </a:custGeom>
          <a:blipFill>
            <a:blip r:embed="rId2"/>
            <a:stretch>
              <a:fillRect l="0" t="0" r="0" b="0"/>
            </a:stretch>
          </a:blipFill>
        </p:spPr>
      </p:sp>
      <p:sp>
        <p:nvSpPr>
          <p:cNvPr name="Freeform 3" id="3"/>
          <p:cNvSpPr/>
          <p:nvPr/>
        </p:nvSpPr>
        <p:spPr>
          <a:xfrm flipH="false" flipV="false" rot="0">
            <a:off x="5180026" y="4503979"/>
            <a:ext cx="8857467" cy="1948643"/>
          </a:xfrm>
          <a:custGeom>
            <a:avLst/>
            <a:gdLst/>
            <a:ahLst/>
            <a:cxnLst/>
            <a:rect r="r" b="b" t="t" l="l"/>
            <a:pathLst>
              <a:path h="1948643" w="8857467">
                <a:moveTo>
                  <a:pt x="0" y="0"/>
                </a:moveTo>
                <a:lnTo>
                  <a:pt x="8857468" y="0"/>
                </a:lnTo>
                <a:lnTo>
                  <a:pt x="8857468" y="1948643"/>
                </a:lnTo>
                <a:lnTo>
                  <a:pt x="0" y="1948643"/>
                </a:lnTo>
                <a:lnTo>
                  <a:pt x="0" y="0"/>
                </a:lnTo>
                <a:close/>
              </a:path>
            </a:pathLst>
          </a:custGeom>
          <a:blipFill>
            <a:blip r:embed="rId3">
              <a:alphaModFix amt="7999"/>
              <a:extLst>
                <a:ext uri="{96DAC541-7B7A-43D3-8B79-37D633B846F1}">
                  <asvg:svgBlip xmlns:asvg="http://schemas.microsoft.com/office/drawing/2016/SVG/main" r:embed="rId4"/>
                </a:ext>
              </a:extLst>
            </a:blip>
            <a:stretch>
              <a:fillRect l="0" t="0" r="0" b="0"/>
            </a:stretch>
          </a:blipFill>
        </p:spPr>
      </p:sp>
      <p:pic>
        <p:nvPicPr>
          <p:cNvPr name="Picture 4" id="4">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0" b="0"/>
          <a:stretch>
            <a:fillRect/>
          </a:stretch>
        </p:blipFill>
        <p:spPr>
          <a:xfrm flipH="false" flipV="false" rot="0">
            <a:off x="13099024" y="1311086"/>
            <a:ext cx="3377537" cy="1925196"/>
          </a:xfrm>
          <a:prstGeom prst="rect">
            <a:avLst/>
          </a:prstGeom>
        </p:spPr>
      </p:pic>
      <p:sp>
        <p:nvSpPr>
          <p:cNvPr name="TextBox 5" id="5"/>
          <p:cNvSpPr txBox="true"/>
          <p:nvPr/>
        </p:nvSpPr>
        <p:spPr>
          <a:xfrm rot="0">
            <a:off x="542270" y="1473011"/>
            <a:ext cx="7096512" cy="1189534"/>
          </a:xfrm>
          <a:prstGeom prst="rect">
            <a:avLst/>
          </a:prstGeom>
        </p:spPr>
        <p:txBody>
          <a:bodyPr anchor="t" rtlCol="false" tIns="0" lIns="0" bIns="0" rIns="0">
            <a:spAutoFit/>
          </a:bodyPr>
          <a:lstStyle/>
          <a:p>
            <a:pPr algn="l">
              <a:lnSpc>
                <a:spcPts val="8938"/>
              </a:lnSpc>
            </a:pPr>
            <a:r>
              <a:rPr lang="en-US" sz="8938" b="true">
                <a:solidFill>
                  <a:srgbClr val="F6F6F6"/>
                </a:solidFill>
                <a:latin typeface="Heebo Heavy"/>
                <a:ea typeface="Heebo Heavy"/>
                <a:cs typeface="Heebo Heavy"/>
                <a:sym typeface="Heebo Heavy"/>
              </a:rPr>
              <a:t>REFERENCES</a:t>
            </a:r>
          </a:p>
        </p:txBody>
      </p:sp>
      <p:sp>
        <p:nvSpPr>
          <p:cNvPr name="TextBox 6" id="6"/>
          <p:cNvSpPr txBox="true"/>
          <p:nvPr/>
        </p:nvSpPr>
        <p:spPr>
          <a:xfrm rot="0">
            <a:off x="542270" y="3547492"/>
            <a:ext cx="17203460" cy="4142042"/>
          </a:xfrm>
          <a:prstGeom prst="rect">
            <a:avLst/>
          </a:prstGeom>
        </p:spPr>
        <p:txBody>
          <a:bodyPr anchor="t" rtlCol="false" tIns="0" lIns="0" bIns="0" rIns="0">
            <a:spAutoFit/>
          </a:bodyPr>
          <a:lstStyle/>
          <a:p>
            <a:pPr algn="l">
              <a:lnSpc>
                <a:spcPts val="5591"/>
              </a:lnSpc>
              <a:spcBef>
                <a:spcPct val="0"/>
              </a:spcBef>
            </a:pPr>
            <a:r>
              <a:rPr lang="en-US" sz="2463">
                <a:solidFill>
                  <a:srgbClr val="FFFFFF"/>
                </a:solidFill>
                <a:latin typeface="Heebo"/>
                <a:ea typeface="Heebo"/>
                <a:cs typeface="Heebo"/>
                <a:sym typeface="Heebo"/>
              </a:rPr>
              <a:t>[1] Kaggle, “Kaggle: Your Machine Learning and Data Science Community,” [Online]. Available: https://www.kaggle.com/</a:t>
            </a:r>
          </a:p>
          <a:p>
            <a:pPr algn="l">
              <a:lnSpc>
                <a:spcPts val="5591"/>
              </a:lnSpc>
              <a:spcBef>
                <a:spcPct val="0"/>
              </a:spcBef>
            </a:pPr>
            <a:r>
              <a:rPr lang="en-US" sz="2463">
                <a:solidFill>
                  <a:srgbClr val="FFFFFF"/>
                </a:solidFill>
                <a:latin typeface="Heebo"/>
                <a:ea typeface="Heebo"/>
                <a:cs typeface="Heebo"/>
                <a:sym typeface="Heebo"/>
              </a:rPr>
              <a:t>[2] Pandas, “Pandas: Python Data Analysis Library,” [Online]. Available: https://pandas.pydata.org/</a:t>
            </a:r>
          </a:p>
          <a:p>
            <a:pPr algn="l">
              <a:lnSpc>
                <a:spcPts val="5591"/>
              </a:lnSpc>
              <a:spcBef>
                <a:spcPct val="0"/>
              </a:spcBef>
            </a:pPr>
            <a:r>
              <a:rPr lang="en-US" sz="2463">
                <a:solidFill>
                  <a:srgbClr val="FFFFFF"/>
                </a:solidFill>
                <a:latin typeface="Heebo"/>
                <a:ea typeface="Heebo"/>
                <a:cs typeface="Heebo"/>
                <a:sym typeface="Heebo"/>
              </a:rPr>
              <a:t>[3] NumPy, “NumPy: The Fundamental Package for Scientific Computing with Python,” [Online]. Available: https://numpy.org/</a:t>
            </a:r>
          </a:p>
          <a:p>
            <a:pPr algn="l">
              <a:lnSpc>
                <a:spcPts val="5591"/>
              </a:lnSpc>
              <a:spcBef>
                <a:spcPct val="0"/>
              </a:spcBef>
            </a:pPr>
            <a:r>
              <a:rPr lang="en-US" sz="2463">
                <a:solidFill>
                  <a:srgbClr val="FFFFFF"/>
                </a:solidFill>
                <a:latin typeface="Heebo"/>
                <a:ea typeface="Heebo"/>
                <a:cs typeface="Heebo"/>
                <a:sym typeface="Heebo"/>
              </a:rPr>
              <a:t>[4] Matplotlib, “Matplotlib: Visualization with Python,” [Online]. Available: https://matplotlib.org/</a:t>
            </a:r>
          </a:p>
          <a:p>
            <a:pPr algn="l">
              <a:lnSpc>
                <a:spcPts val="5591"/>
              </a:lnSpc>
              <a:spcBef>
                <a:spcPct val="0"/>
              </a:spcBef>
            </a:pPr>
            <a:r>
              <a:rPr lang="en-US" sz="2463">
                <a:solidFill>
                  <a:srgbClr val="FFFFFF"/>
                </a:solidFill>
                <a:latin typeface="Heebo"/>
                <a:ea typeface="Heebo"/>
                <a:cs typeface="Heebo"/>
                <a:sym typeface="Heebo"/>
              </a:rPr>
              <a:t>[5] Microsoft, “Microsoft Power BI,” [Online]. Available: https://powerbi.microsoft.com/</a:t>
            </a:r>
          </a:p>
          <a:p>
            <a:pPr algn="l">
              <a:lnSpc>
                <a:spcPts val="5591"/>
              </a:lnSpc>
              <a:spcBef>
                <a:spcPct val="0"/>
              </a:spcBef>
            </a:pPr>
            <a:r>
              <a:rPr lang="en-US" sz="2463">
                <a:solidFill>
                  <a:srgbClr val="FFFFFF"/>
                </a:solidFill>
                <a:latin typeface="Heebo"/>
                <a:ea typeface="Heebo"/>
                <a:cs typeface="Heebo"/>
                <a:sym typeface="Heebo"/>
              </a:rPr>
              <a:t>[6] Google, “Google Colaboratory,” [Online]. Available: https://colab.research.google.com/</a:t>
            </a:r>
          </a:p>
        </p:txBody>
      </p:sp>
      <p:sp>
        <p:nvSpPr>
          <p:cNvPr name="Freeform 7" id="7"/>
          <p:cNvSpPr/>
          <p:nvPr/>
        </p:nvSpPr>
        <p:spPr>
          <a:xfrm flipH="false" flipV="false" rot="0">
            <a:off x="462938" y="491833"/>
            <a:ext cx="2440306" cy="536867"/>
          </a:xfrm>
          <a:custGeom>
            <a:avLst/>
            <a:gdLst/>
            <a:ahLst/>
            <a:cxnLst/>
            <a:rect r="r" b="b" t="t" l="l"/>
            <a:pathLst>
              <a:path h="536867" w="2440306">
                <a:moveTo>
                  <a:pt x="0" y="0"/>
                </a:moveTo>
                <a:lnTo>
                  <a:pt x="2440306" y="0"/>
                </a:lnTo>
                <a:lnTo>
                  <a:pt x="2440306" y="536867"/>
                </a:lnTo>
                <a:lnTo>
                  <a:pt x="0" y="536867"/>
                </a:lnTo>
                <a:lnTo>
                  <a:pt x="0" y="0"/>
                </a:lnTo>
                <a:close/>
              </a:path>
            </a:pathLst>
          </a:custGeom>
          <a:blipFill>
            <a:blip r:embed="rId8">
              <a:alphaModFix amt="47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6216906" y="272266"/>
            <a:ext cx="519311" cy="573825"/>
          </a:xfrm>
          <a:custGeom>
            <a:avLst/>
            <a:gdLst/>
            <a:ahLst/>
            <a:cxnLst/>
            <a:rect r="r" b="b" t="t" l="l"/>
            <a:pathLst>
              <a:path h="573825" w="519311">
                <a:moveTo>
                  <a:pt x="0" y="0"/>
                </a:moveTo>
                <a:lnTo>
                  <a:pt x="519311" y="0"/>
                </a:lnTo>
                <a:lnTo>
                  <a:pt x="519311" y="573825"/>
                </a:lnTo>
                <a:lnTo>
                  <a:pt x="0" y="5738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7259300" y="309223"/>
            <a:ext cx="508923" cy="508923"/>
          </a:xfrm>
          <a:custGeom>
            <a:avLst/>
            <a:gdLst/>
            <a:ahLst/>
            <a:cxnLst/>
            <a:rect r="r" b="b" t="t" l="l"/>
            <a:pathLst>
              <a:path h="508923" w="508923">
                <a:moveTo>
                  <a:pt x="0" y="0"/>
                </a:moveTo>
                <a:lnTo>
                  <a:pt x="508923" y="0"/>
                </a:lnTo>
                <a:lnTo>
                  <a:pt x="508923" y="508924"/>
                </a:lnTo>
                <a:lnTo>
                  <a:pt x="0" y="50892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80708"/>
        </a:solidFill>
      </p:bgPr>
    </p:bg>
    <p:spTree>
      <p:nvGrpSpPr>
        <p:cNvPr id="1" name=""/>
        <p:cNvGrpSpPr/>
        <p:nvPr/>
      </p:nvGrpSpPr>
      <p:grpSpPr>
        <a:xfrm>
          <a:off x="0" y="0"/>
          <a:ext cx="0" cy="0"/>
          <a:chOff x="0" y="0"/>
          <a:chExt cx="0" cy="0"/>
        </a:xfrm>
      </p:grpSpPr>
      <p:sp>
        <p:nvSpPr>
          <p:cNvPr name="Freeform 2" id="2"/>
          <p:cNvSpPr/>
          <p:nvPr/>
        </p:nvSpPr>
        <p:spPr>
          <a:xfrm flipH="false" flipV="false" rot="0">
            <a:off x="8174264" y="6909119"/>
            <a:ext cx="2406316" cy="218640"/>
          </a:xfrm>
          <a:custGeom>
            <a:avLst/>
            <a:gdLst/>
            <a:ahLst/>
            <a:cxnLst/>
            <a:rect r="r" b="b" t="t" l="l"/>
            <a:pathLst>
              <a:path h="218640" w="2406316">
                <a:moveTo>
                  <a:pt x="0" y="0"/>
                </a:moveTo>
                <a:lnTo>
                  <a:pt x="2406316" y="0"/>
                </a:lnTo>
                <a:lnTo>
                  <a:pt x="2406316" y="218640"/>
                </a:lnTo>
                <a:lnTo>
                  <a:pt x="0" y="218640"/>
                </a:lnTo>
                <a:lnTo>
                  <a:pt x="0" y="0"/>
                </a:lnTo>
                <a:close/>
              </a:path>
            </a:pathLst>
          </a:custGeom>
          <a:blipFill>
            <a:blip r:embed="rId2"/>
            <a:stretch>
              <a:fillRect l="0" t="0" r="0" b="0"/>
            </a:stretch>
          </a:blipFill>
        </p:spPr>
      </p:sp>
      <p:sp>
        <p:nvSpPr>
          <p:cNvPr name="Freeform 3" id="3"/>
          <p:cNvSpPr/>
          <p:nvPr/>
        </p:nvSpPr>
        <p:spPr>
          <a:xfrm flipH="false" flipV="false" rot="0">
            <a:off x="8094445" y="2456396"/>
            <a:ext cx="2486135" cy="1752725"/>
          </a:xfrm>
          <a:custGeom>
            <a:avLst/>
            <a:gdLst/>
            <a:ahLst/>
            <a:cxnLst/>
            <a:rect r="r" b="b" t="t" l="l"/>
            <a:pathLst>
              <a:path h="1752725" w="2486135">
                <a:moveTo>
                  <a:pt x="0" y="0"/>
                </a:moveTo>
                <a:lnTo>
                  <a:pt x="2486135" y="0"/>
                </a:lnTo>
                <a:lnTo>
                  <a:pt x="2486135" y="1752725"/>
                </a:lnTo>
                <a:lnTo>
                  <a:pt x="0" y="1752725"/>
                </a:lnTo>
                <a:lnTo>
                  <a:pt x="0" y="0"/>
                </a:lnTo>
                <a:close/>
              </a:path>
            </a:pathLst>
          </a:custGeom>
          <a:blipFill>
            <a:blip r:embed="rId3"/>
            <a:stretch>
              <a:fillRect l="0" t="0" r="0" b="0"/>
            </a:stretch>
          </a:blipFill>
        </p:spPr>
      </p:sp>
      <p:sp>
        <p:nvSpPr>
          <p:cNvPr name="TextBox 4" id="4"/>
          <p:cNvSpPr txBox="true"/>
          <p:nvPr/>
        </p:nvSpPr>
        <p:spPr>
          <a:xfrm rot="0">
            <a:off x="3228306" y="5098685"/>
            <a:ext cx="12155141" cy="2029074"/>
          </a:xfrm>
          <a:prstGeom prst="rect">
            <a:avLst/>
          </a:prstGeom>
        </p:spPr>
        <p:txBody>
          <a:bodyPr anchor="t" rtlCol="false" tIns="0" lIns="0" bIns="0" rIns="0">
            <a:spAutoFit/>
          </a:bodyPr>
          <a:lstStyle/>
          <a:p>
            <a:pPr algn="l">
              <a:lnSpc>
                <a:spcPts val="15310"/>
              </a:lnSpc>
            </a:pPr>
            <a:r>
              <a:rPr lang="en-US" sz="15310" b="true">
                <a:solidFill>
                  <a:srgbClr val="F6F6F6"/>
                </a:solidFill>
                <a:latin typeface="Heebo Heavy"/>
                <a:ea typeface="Heebo Heavy"/>
                <a:cs typeface="Heebo Heavy"/>
                <a:sym typeface="Heebo Heav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DAHXJ93vowQ</dc:identifier>
  <dcterms:modified xsi:type="dcterms:W3CDTF">2011-08-01T06:04:30Z</dcterms:modified>
  <cp:revision>1</cp:revision>
  <dc:title>YouTube Trending Dashboard</dc:title>
</cp:coreProperties>
</file>